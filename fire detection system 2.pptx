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3" d="100"/>
          <a:sy n="73" d="100"/>
        </p:scale>
        <p:origin x="380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3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222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758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750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020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609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541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172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635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333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416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91844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9588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8478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7176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5590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0755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9628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D8BD707-D9CF-40AE-B4C6-C98DA3205C0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8301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7270" y="640080"/>
            <a:ext cx="7623175" cy="153860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 algn="ctr">
              <a:lnSpc>
                <a:spcPts val="4360"/>
              </a:lnSpc>
              <a:spcBef>
                <a:spcPts val="590"/>
              </a:spcBef>
            </a:pPr>
            <a:r>
              <a:rPr sz="3950" b="0" spc="50" dirty="0">
                <a:latin typeface="Calibri"/>
                <a:cs typeface="Calibri"/>
              </a:rPr>
              <a:t>DEPARTMENT</a:t>
            </a:r>
            <a:r>
              <a:rPr sz="3950" b="0" spc="-90" dirty="0">
                <a:latin typeface="Calibri"/>
                <a:cs typeface="Calibri"/>
              </a:rPr>
              <a:t> </a:t>
            </a:r>
            <a:r>
              <a:rPr sz="3950" b="0" spc="170" dirty="0">
                <a:latin typeface="Calibri"/>
                <a:cs typeface="Calibri"/>
              </a:rPr>
              <a:t>OF</a:t>
            </a:r>
            <a:r>
              <a:rPr sz="3950" b="0" spc="-110" dirty="0">
                <a:latin typeface="Calibri"/>
                <a:cs typeface="Calibri"/>
              </a:rPr>
              <a:t> </a:t>
            </a:r>
            <a:r>
              <a:rPr sz="3950" b="0" spc="200" dirty="0">
                <a:latin typeface="Calibri"/>
                <a:cs typeface="Calibri"/>
              </a:rPr>
              <a:t>ELECTONICS</a:t>
            </a:r>
            <a:r>
              <a:rPr sz="3950" b="0" spc="-45" dirty="0">
                <a:latin typeface="Calibri"/>
                <a:cs typeface="Calibri"/>
              </a:rPr>
              <a:t> </a:t>
            </a:r>
            <a:r>
              <a:rPr sz="3950" b="0" spc="75" dirty="0">
                <a:latin typeface="Calibri"/>
                <a:cs typeface="Calibri"/>
              </a:rPr>
              <a:t>AND </a:t>
            </a:r>
            <a:r>
              <a:rPr sz="3950" b="0" spc="50" dirty="0">
                <a:latin typeface="Calibri"/>
                <a:cs typeface="Calibri"/>
              </a:rPr>
              <a:t>COMMUNICATION</a:t>
            </a:r>
            <a:r>
              <a:rPr sz="3950" b="0" spc="-40" dirty="0">
                <a:latin typeface="Calibri"/>
                <a:cs typeface="Calibri"/>
              </a:rPr>
              <a:t> </a:t>
            </a:r>
            <a:r>
              <a:rPr sz="3950" b="0" spc="125" dirty="0">
                <a:latin typeface="Calibri"/>
                <a:cs typeface="Calibri"/>
              </a:rPr>
              <a:t>ENGINEERING</a:t>
            </a:r>
            <a:endParaRPr sz="3950">
              <a:latin typeface="Calibri"/>
              <a:cs typeface="Calibri"/>
            </a:endParaRPr>
          </a:p>
          <a:p>
            <a:pPr marR="45720" algn="ctr">
              <a:lnSpc>
                <a:spcPts val="2695"/>
              </a:lnSpc>
            </a:pPr>
            <a:r>
              <a:rPr sz="2450" b="0" dirty="0">
                <a:latin typeface="Calibri"/>
                <a:cs typeface="Calibri"/>
              </a:rPr>
              <a:t>Galgotias</a:t>
            </a:r>
            <a:r>
              <a:rPr sz="2450" b="0" spc="30" dirty="0">
                <a:latin typeface="Calibri"/>
                <a:cs typeface="Calibri"/>
              </a:rPr>
              <a:t> </a:t>
            </a:r>
            <a:r>
              <a:rPr sz="2450" b="0" dirty="0">
                <a:latin typeface="Calibri"/>
                <a:cs typeface="Calibri"/>
              </a:rPr>
              <a:t>College</a:t>
            </a:r>
            <a:r>
              <a:rPr sz="2450" b="0" spc="40" dirty="0">
                <a:latin typeface="Calibri"/>
                <a:cs typeface="Calibri"/>
              </a:rPr>
              <a:t> </a:t>
            </a:r>
            <a:r>
              <a:rPr sz="2450" b="0" spc="-10" dirty="0">
                <a:latin typeface="Calibri"/>
                <a:cs typeface="Calibri"/>
              </a:rPr>
              <a:t>of</a:t>
            </a:r>
            <a:r>
              <a:rPr sz="2450" b="0" spc="45" dirty="0">
                <a:latin typeface="Calibri"/>
                <a:cs typeface="Calibri"/>
              </a:rPr>
              <a:t> </a:t>
            </a:r>
            <a:r>
              <a:rPr sz="2450" b="0" spc="-20" dirty="0">
                <a:latin typeface="Calibri"/>
                <a:cs typeface="Calibri"/>
              </a:rPr>
              <a:t>Engineering</a:t>
            </a:r>
            <a:r>
              <a:rPr sz="2450" b="0" spc="25" dirty="0">
                <a:latin typeface="Calibri"/>
                <a:cs typeface="Calibri"/>
              </a:rPr>
              <a:t> </a:t>
            </a:r>
            <a:r>
              <a:rPr sz="2450" b="0" spc="575" dirty="0">
                <a:latin typeface="Calibri"/>
                <a:cs typeface="Calibri"/>
              </a:rPr>
              <a:t>s</a:t>
            </a:r>
            <a:r>
              <a:rPr sz="2450" b="0" spc="15" dirty="0">
                <a:latin typeface="Calibri"/>
                <a:cs typeface="Calibri"/>
              </a:rPr>
              <a:t> </a:t>
            </a:r>
            <a:r>
              <a:rPr sz="2450" b="0" spc="-10" dirty="0">
                <a:latin typeface="Calibri"/>
                <a:cs typeface="Calibri"/>
              </a:rPr>
              <a:t>Technology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48879" y="3014091"/>
            <a:ext cx="3124200" cy="9525"/>
          </a:xfrm>
          <a:custGeom>
            <a:avLst/>
            <a:gdLst/>
            <a:ahLst/>
            <a:cxnLst/>
            <a:rect l="l" t="t" r="r" b="b"/>
            <a:pathLst>
              <a:path w="3124200" h="9525">
                <a:moveTo>
                  <a:pt x="3124200" y="0"/>
                </a:moveTo>
                <a:lnTo>
                  <a:pt x="0" y="0"/>
                </a:lnTo>
                <a:lnTo>
                  <a:pt x="0" y="9525"/>
                </a:lnTo>
                <a:lnTo>
                  <a:pt x="3124200" y="9525"/>
                </a:lnTo>
                <a:lnTo>
                  <a:pt x="3124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14412" y="2433319"/>
            <a:ext cx="10181590" cy="126936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4164965" marR="5080" indent="-4152900">
              <a:lnSpc>
                <a:spcPts val="4660"/>
              </a:lnSpc>
              <a:spcBef>
                <a:spcPts val="650"/>
              </a:spcBef>
            </a:pPr>
            <a:r>
              <a:rPr sz="4250" b="1" dirty="0">
                <a:latin typeface="Calibri"/>
                <a:cs typeface="Calibri"/>
              </a:rPr>
              <a:t>Automated</a:t>
            </a:r>
            <a:r>
              <a:rPr sz="4250" b="1" spc="-20" dirty="0">
                <a:latin typeface="Calibri"/>
                <a:cs typeface="Calibri"/>
              </a:rPr>
              <a:t> </a:t>
            </a:r>
            <a:r>
              <a:rPr sz="4250" b="1" dirty="0">
                <a:latin typeface="Calibri"/>
                <a:cs typeface="Calibri"/>
              </a:rPr>
              <a:t>Fire</a:t>
            </a:r>
            <a:r>
              <a:rPr sz="4250" b="1" spc="-5" dirty="0">
                <a:latin typeface="Calibri"/>
                <a:cs typeface="Calibri"/>
              </a:rPr>
              <a:t> </a:t>
            </a:r>
            <a:r>
              <a:rPr sz="4250" b="1" spc="60" dirty="0">
                <a:latin typeface="Calibri"/>
                <a:cs typeface="Calibri"/>
              </a:rPr>
              <a:t>Detection</a:t>
            </a:r>
            <a:r>
              <a:rPr sz="4250" b="1" spc="-10" dirty="0">
                <a:latin typeface="Calibri"/>
                <a:cs typeface="Calibri"/>
              </a:rPr>
              <a:t> </a:t>
            </a:r>
            <a:r>
              <a:rPr sz="4250" b="1" dirty="0">
                <a:latin typeface="Calibri"/>
                <a:cs typeface="Calibri"/>
              </a:rPr>
              <a:t>and</a:t>
            </a:r>
            <a:r>
              <a:rPr sz="4250" b="1" spc="25" dirty="0">
                <a:latin typeface="Calibri"/>
                <a:cs typeface="Calibri"/>
              </a:rPr>
              <a:t> </a:t>
            </a:r>
            <a:r>
              <a:rPr sz="4250" b="1" spc="254" dirty="0">
                <a:latin typeface="Calibri"/>
                <a:cs typeface="Calibri"/>
              </a:rPr>
              <a:t>Suppression </a:t>
            </a:r>
            <a:r>
              <a:rPr sz="4250" b="1" spc="265" dirty="0">
                <a:latin typeface="Calibri"/>
                <a:cs typeface="Calibri"/>
              </a:rPr>
              <a:t>System</a:t>
            </a:r>
            <a:endParaRPr sz="425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72328" y="360464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1847850" y="0"/>
                </a:moveTo>
                <a:lnTo>
                  <a:pt x="0" y="0"/>
                </a:lnTo>
                <a:lnTo>
                  <a:pt x="0" y="9524"/>
                </a:lnTo>
                <a:lnTo>
                  <a:pt x="1847850" y="9524"/>
                </a:lnTo>
                <a:lnTo>
                  <a:pt x="18478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24989" y="4159567"/>
            <a:ext cx="855789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800" spc="-20" dirty="0">
                <a:latin typeface="Calibri"/>
                <a:cs typeface="Calibri"/>
              </a:rPr>
              <a:t>Mini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Project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75" dirty="0">
                <a:latin typeface="Calibri"/>
                <a:cs typeface="Calibri"/>
              </a:rPr>
              <a:t>(BEC554)-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50" dirty="0">
                <a:latin typeface="Calibri"/>
                <a:cs typeface="Calibri"/>
              </a:rPr>
              <a:t>5</a:t>
            </a:r>
            <a:r>
              <a:rPr sz="1800" spc="75" baseline="23148" dirty="0">
                <a:latin typeface="Calibri"/>
                <a:cs typeface="Calibri"/>
              </a:rPr>
              <a:t>th</a:t>
            </a:r>
            <a:r>
              <a:rPr sz="2000" spc="50" dirty="0">
                <a:latin typeface="Calibri"/>
                <a:cs typeface="Calibri"/>
              </a:rPr>
              <a:t>Semester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75" dirty="0">
                <a:latin typeface="Calibri"/>
                <a:cs typeface="Calibri"/>
              </a:rPr>
              <a:t>Electronics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75" dirty="0">
                <a:latin typeface="Calibri"/>
                <a:cs typeface="Calibri"/>
              </a:rPr>
              <a:t>and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75" dirty="0">
                <a:latin typeface="Calibri"/>
                <a:cs typeface="Calibri"/>
              </a:rPr>
              <a:t>Communication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Engineering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0847" y="4735639"/>
            <a:ext cx="2260600" cy="1160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91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Under</a:t>
            </a:r>
            <a:r>
              <a:rPr sz="1800" spc="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55" dirty="0">
                <a:latin typeface="Calibri"/>
                <a:cs typeface="Calibri"/>
              </a:rPr>
              <a:t>guidance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of: </a:t>
            </a:r>
            <a:r>
              <a:rPr sz="1800" dirty="0">
                <a:latin typeface="Calibri"/>
                <a:cs typeface="Calibri"/>
              </a:rPr>
              <a:t>Dr.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60" dirty="0">
                <a:latin typeface="Calibri"/>
                <a:cs typeface="Calibri"/>
              </a:rPr>
              <a:t>Richa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800" spc="-85" dirty="0">
                <a:latin typeface="Calibri"/>
                <a:cs typeface="Calibri"/>
              </a:rPr>
              <a:t>Mr.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Amit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30" dirty="0">
                <a:latin typeface="Calibri"/>
                <a:cs typeface="Calibri"/>
              </a:rPr>
              <a:t>Gupta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7600" y="4735639"/>
            <a:ext cx="4114164" cy="1562607"/>
          </a:xfrm>
          <a:prstGeom prst="rect">
            <a:avLst/>
          </a:prstGeom>
        </p:spPr>
        <p:txBody>
          <a:bodyPr vert="horz" wrap="square" lIns="0" tIns="120015" rIns="0" bIns="0" rtlCol="0">
            <a:spAutoFit/>
          </a:bodyPr>
          <a:lstStyle/>
          <a:p>
            <a:pPr marL="409575">
              <a:lnSpc>
                <a:spcPct val="100000"/>
              </a:lnSpc>
              <a:spcBef>
                <a:spcPts val="945"/>
              </a:spcBef>
            </a:pPr>
            <a:r>
              <a:rPr sz="1800" spc="45" dirty="0">
                <a:latin typeface="Calibri"/>
                <a:cs typeface="Calibri"/>
              </a:rPr>
              <a:t>Presented</a:t>
            </a:r>
            <a:r>
              <a:rPr sz="1800" spc="32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by:</a:t>
            </a:r>
            <a:endParaRPr lang="en-US" sz="1800" spc="-25" dirty="0">
              <a:latin typeface="Calibri"/>
              <a:cs typeface="Calibri"/>
            </a:endParaRPr>
          </a:p>
          <a:p>
            <a:pPr marL="409575">
              <a:lnSpc>
                <a:spcPct val="100000"/>
              </a:lnSpc>
              <a:spcBef>
                <a:spcPts val="945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Mohammad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Azhar</a:t>
            </a:r>
            <a:r>
              <a:rPr lang="en-US" dirty="0"/>
              <a:t> ( 2300970310111)</a:t>
            </a:r>
            <a:r>
              <a:rPr sz="1800" spc="-10" dirty="0">
                <a:latin typeface="Calibri"/>
                <a:cs typeface="Calibri"/>
              </a:rPr>
              <a:t> </a:t>
            </a:r>
            <a:endParaRPr lang="en-US" sz="1800" spc="-10" dirty="0">
              <a:latin typeface="Calibri"/>
              <a:cs typeface="Calibri"/>
            </a:endParaRPr>
          </a:p>
          <a:p>
            <a:pPr marL="409575">
              <a:lnSpc>
                <a:spcPct val="100000"/>
              </a:lnSpc>
              <a:spcBef>
                <a:spcPts val="945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Mohd.</a:t>
            </a:r>
            <a:r>
              <a:rPr sz="1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Rehan</a:t>
            </a:r>
            <a:r>
              <a:rPr sz="1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Sharif</a:t>
            </a:r>
            <a:r>
              <a:rPr sz="1800" spc="-10" dirty="0">
                <a:latin typeface="Calibri"/>
                <a:cs typeface="Calibri"/>
              </a:rPr>
              <a:t> (2300970310112)</a:t>
            </a:r>
            <a:endParaRPr sz="1800" dirty="0">
              <a:latin typeface="Calibri"/>
              <a:cs typeface="Calibri"/>
            </a:endParaRPr>
          </a:p>
          <a:p>
            <a:pPr marL="17145">
              <a:lnSpc>
                <a:spcPct val="100000"/>
              </a:lnSpc>
              <a:spcBef>
                <a:spcPts val="770"/>
              </a:spcBef>
            </a:pPr>
            <a:r>
              <a:rPr lang="en-US" dirty="0"/>
              <a:t>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Prakhar pal</a:t>
            </a:r>
            <a:r>
              <a:rPr lang="en-US" dirty="0"/>
              <a:t> ( 2300970310126)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425" y="390525"/>
            <a:ext cx="1543050" cy="154305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15575" y="400050"/>
            <a:ext cx="1562100" cy="15525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79748" y="243650"/>
            <a:ext cx="4032504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b="0" spc="-75" dirty="0">
                <a:latin typeface="Calibri"/>
                <a:cs typeface="Calibri"/>
              </a:rPr>
              <a:t>Table</a:t>
            </a:r>
            <a:r>
              <a:rPr sz="4400" b="0" spc="-180" dirty="0">
                <a:latin typeface="Calibri"/>
                <a:cs typeface="Calibri"/>
              </a:rPr>
              <a:t> </a:t>
            </a:r>
            <a:r>
              <a:rPr sz="4400" b="0" spc="-90" dirty="0">
                <a:latin typeface="Calibri"/>
                <a:cs typeface="Calibri"/>
              </a:rPr>
              <a:t>of</a:t>
            </a:r>
            <a:r>
              <a:rPr sz="4400" b="0" spc="-145" dirty="0">
                <a:latin typeface="Calibri"/>
                <a:cs typeface="Calibri"/>
              </a:rPr>
              <a:t> </a:t>
            </a:r>
            <a:r>
              <a:rPr sz="4400" b="0" spc="-10" dirty="0">
                <a:latin typeface="Calibri"/>
                <a:cs typeface="Calibri"/>
              </a:rPr>
              <a:t>Content</a:t>
            </a:r>
            <a:endParaRPr sz="4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575" y="856678"/>
            <a:ext cx="2009139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2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Introduction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575" y="1266380"/>
            <a:ext cx="3438525" cy="53479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70" dirty="0">
                <a:latin typeface="Calibri"/>
                <a:cs typeface="Calibri"/>
              </a:rPr>
              <a:t>Problem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spc="45" dirty="0">
                <a:latin typeface="Calibri"/>
                <a:cs typeface="Calibri"/>
              </a:rPr>
              <a:t>Identification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55" dirty="0">
                <a:latin typeface="Calibri"/>
                <a:cs typeface="Calibri"/>
              </a:rPr>
              <a:t>Objective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Literature</a:t>
            </a:r>
            <a:r>
              <a:rPr sz="2600" spc="21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Review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85" dirty="0">
                <a:latin typeface="Calibri"/>
                <a:cs typeface="Calibri"/>
              </a:rPr>
              <a:t>Proposed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Method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Tool</a:t>
            </a:r>
            <a:r>
              <a:rPr sz="2600" spc="-145" dirty="0">
                <a:latin typeface="Calibri"/>
                <a:cs typeface="Calibri"/>
              </a:rPr>
              <a:t> </a:t>
            </a:r>
            <a:r>
              <a:rPr sz="2600" spc="110" dirty="0">
                <a:latin typeface="Calibri"/>
                <a:cs typeface="Calibri"/>
              </a:rPr>
              <a:t>Used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45" dirty="0">
                <a:latin typeface="Calibri"/>
                <a:cs typeface="Calibri"/>
              </a:rPr>
              <a:t>Implementation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3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100" dirty="0">
                <a:latin typeface="Calibri"/>
                <a:cs typeface="Calibri"/>
              </a:rPr>
              <a:t>Result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80" dirty="0">
                <a:latin typeface="Calibri"/>
                <a:cs typeface="Calibri"/>
              </a:rPr>
              <a:t>and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130" dirty="0">
                <a:latin typeface="Calibri"/>
                <a:cs typeface="Calibri"/>
              </a:rPr>
              <a:t>Discussion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75" dirty="0">
                <a:latin typeface="Calibri"/>
                <a:cs typeface="Calibri"/>
              </a:rPr>
              <a:t>Applications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40" dirty="0">
                <a:latin typeface="Calibri"/>
                <a:cs typeface="Calibri"/>
              </a:rPr>
              <a:t>Limitation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Future</a:t>
            </a:r>
            <a:r>
              <a:rPr sz="2600" spc="155" dirty="0">
                <a:latin typeface="Calibri"/>
                <a:cs typeface="Calibri"/>
              </a:rPr>
              <a:t> </a:t>
            </a:r>
            <a:r>
              <a:rPr sz="2600" spc="145" dirty="0">
                <a:latin typeface="Calibri"/>
                <a:cs typeface="Calibri"/>
              </a:rPr>
              <a:t>Scope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120" dirty="0">
                <a:latin typeface="Calibri"/>
                <a:cs typeface="Calibri"/>
              </a:rPr>
              <a:t>Conclusion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80" dirty="0">
                <a:latin typeface="Calibri"/>
                <a:cs typeface="Calibri"/>
              </a:rPr>
              <a:t>References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164401"/>
            <a:ext cx="3671887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-10" dirty="0"/>
              <a:t>Introduction</a:t>
            </a:r>
            <a:endParaRPr sz="48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1175" y="1000125"/>
            <a:ext cx="6172200" cy="48768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6023" y="1143000"/>
            <a:ext cx="5528628" cy="5040482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98450" marR="272415" indent="-286385">
              <a:spcBef>
                <a:spcPts val="505"/>
              </a:spcBef>
              <a:buFont typeface="Arial"/>
              <a:buChar char="•"/>
              <a:tabLst>
                <a:tab pos="298450" algn="l"/>
              </a:tabLst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</a:t>
            </a:r>
            <a:r>
              <a:rPr sz="15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</a:t>
            </a:r>
            <a:r>
              <a:rPr sz="15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</a:t>
            </a:r>
            <a:r>
              <a:rPr sz="15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relies</a:t>
            </a:r>
            <a:r>
              <a:rPr sz="15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5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</a:t>
            </a:r>
            <a:r>
              <a:rPr sz="15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alerts, </a:t>
            </a:r>
            <a:r>
              <a:rPr sz="15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suffering</a:t>
            </a:r>
            <a:r>
              <a:rPr sz="15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fromcritical</a:t>
            </a:r>
            <a:r>
              <a:rPr sz="15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sz="15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delays</a:t>
            </a:r>
            <a:r>
              <a:rPr sz="15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5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rates</a:t>
            </a:r>
            <a:r>
              <a:rPr sz="15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5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sz="15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alarms</a:t>
            </a:r>
            <a:r>
              <a:rPr sz="15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inherent</a:t>
            </a:r>
            <a:r>
              <a:rPr sz="15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insingle-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88265">
              <a:spcBef>
                <a:spcPts val="40"/>
              </a:spcBef>
            </a:pPr>
            <a:r>
              <a:rPr sz="15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systems.Its</a:t>
            </a:r>
            <a:r>
              <a:rPr sz="15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sz="15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sz="15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5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highreliability</a:t>
            </a:r>
            <a:r>
              <a:rPr sz="15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stability</a:t>
            </a:r>
            <a:r>
              <a:rPr sz="15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sz="1500" spc="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sz="15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</a:t>
            </a:r>
            <a:r>
              <a:rPr sz="15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5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5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criticaldual-</a:t>
            </a:r>
            <a:r>
              <a:rPr sz="15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</a:t>
            </a:r>
            <a:r>
              <a:rPr sz="15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sz="15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5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</a:t>
            </a:r>
            <a:r>
              <a:rPr sz="15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</a:t>
            </a:r>
            <a:r>
              <a:rPr sz="1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currentinductive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196850">
              <a:spcBef>
                <a:spcPts val="20"/>
              </a:spcBef>
            </a:pPr>
            <a:r>
              <a:rPr sz="15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loads</a:t>
            </a:r>
            <a:r>
              <a:rPr sz="15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5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preventing</a:t>
            </a:r>
            <a:r>
              <a:rPr sz="15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15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instability.</a:t>
            </a:r>
            <a:r>
              <a:rPr sz="15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5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scopeincludes</a:t>
            </a:r>
            <a:r>
              <a:rPr sz="15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mandatory</a:t>
            </a:r>
            <a:r>
              <a:rPr sz="15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</a:t>
            </a:r>
            <a:r>
              <a:rPr sz="15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features,</a:t>
            </a:r>
            <a:r>
              <a:rPr sz="15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</a:t>
            </a:r>
            <a:r>
              <a:rPr sz="15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15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5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flyback</a:t>
            </a:r>
            <a:r>
              <a:rPr sz="15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diode</a:t>
            </a:r>
            <a:r>
              <a:rPr sz="15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,to</a:t>
            </a:r>
            <a:r>
              <a:rPr sz="15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</a:t>
            </a:r>
            <a:r>
              <a:rPr sz="15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5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suppression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circuitry</a:t>
            </a:r>
            <a:r>
              <a:rPr sz="15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5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guarantee</a:t>
            </a:r>
            <a:r>
              <a:rPr sz="15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</a:t>
            </a:r>
            <a:r>
              <a:rPr sz="1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termoperational integrity.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5080" indent="-286385">
              <a:spcBef>
                <a:spcPts val="994"/>
              </a:spcBef>
              <a:buFont typeface="Arial"/>
              <a:buChar char="•"/>
              <a:tabLst>
                <a:tab pos="298450" algn="l"/>
              </a:tabLst>
            </a:pPr>
            <a:r>
              <a:rPr sz="15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15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15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</a:t>
            </a:r>
            <a:r>
              <a:rPr sz="15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5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sz="1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15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sz="15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5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anAutomated</a:t>
            </a:r>
            <a:r>
              <a:rPr sz="15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</a:t>
            </a:r>
            <a:r>
              <a:rPr sz="15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</a:t>
            </a:r>
            <a:r>
              <a:rPr sz="15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5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Suppression</a:t>
            </a:r>
            <a:r>
              <a:rPr sz="15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15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(AFDSS)prototype.</a:t>
            </a:r>
            <a:r>
              <a:rPr sz="15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5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sz="15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5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15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</a:t>
            </a:r>
            <a:r>
              <a:rPr sz="15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5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5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sz="15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UNO </a:t>
            </a:r>
            <a:r>
              <a:rPr sz="15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R3microcontroller,</a:t>
            </a:r>
            <a:r>
              <a:rPr sz="15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15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coordinates</a:t>
            </a:r>
            <a:r>
              <a:rPr sz="15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  <a:r>
              <a:rPr sz="15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36830">
              <a:spcBef>
                <a:spcPts val="25"/>
              </a:spcBef>
            </a:pPr>
            <a:r>
              <a:rPr sz="15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5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sensorarray—</a:t>
            </a:r>
            <a:r>
              <a:rPr sz="15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comprising</a:t>
            </a:r>
            <a:r>
              <a:rPr sz="15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15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sz="15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Flame </a:t>
            </a:r>
            <a:r>
              <a:rPr sz="15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</a:t>
            </a:r>
            <a:r>
              <a:rPr sz="15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5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15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MQ-</a:t>
            </a:r>
            <a:r>
              <a:rPr sz="15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1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Gas/SmokeSensor</a:t>
            </a:r>
            <a:r>
              <a:rPr sz="15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[3]—</a:t>
            </a:r>
            <a:r>
              <a:rPr sz="15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sz="15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15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mechanisms.</a:t>
            </a:r>
            <a:r>
              <a:rPr sz="1500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Thesemechanisms </a:t>
            </a:r>
            <a:r>
              <a:rPr sz="15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sz="15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5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r>
              <a:rPr sz="15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audible</a:t>
            </a:r>
            <a:r>
              <a:rPr sz="15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</a:t>
            </a:r>
            <a:r>
              <a:rPr sz="15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(5V</a:t>
            </a:r>
            <a:r>
              <a:rPr sz="15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Buzzer),</a:t>
            </a:r>
            <a:r>
              <a:rPr sz="15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173355">
              <a:spcBef>
                <a:spcPts val="35"/>
              </a:spcBef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remotealert</a:t>
            </a:r>
            <a:r>
              <a:rPr sz="15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15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(SIM900</a:t>
            </a:r>
            <a:r>
              <a:rPr sz="15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GSM</a:t>
            </a:r>
            <a:r>
              <a:rPr sz="15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module)</a:t>
            </a:r>
            <a:r>
              <a:rPr sz="15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[4], </a:t>
            </a:r>
            <a:r>
              <a:rPr sz="15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5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15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activesuppression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sz="15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(5V</a:t>
            </a:r>
            <a:r>
              <a:rPr sz="15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</a:t>
            </a:r>
            <a:r>
              <a:rPr sz="15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Pump </a:t>
            </a:r>
            <a:r>
              <a:rPr sz="15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</a:t>
            </a:r>
            <a:r>
              <a:rPr sz="15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z="15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5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5V</a:t>
            </a:r>
            <a:r>
              <a:rPr sz="15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Relay).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3795" y="672754"/>
            <a:ext cx="10353762" cy="844141"/>
          </a:xfrm>
          <a:prstGeom prst="rect">
            <a:avLst/>
          </a:prstGeom>
        </p:spPr>
        <p:txBody>
          <a:bodyPr vert="horz" wrap="square" lIns="0" tIns="1654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4400" spc="-204" dirty="0"/>
              <a:t> </a:t>
            </a:r>
            <a:r>
              <a:rPr sz="4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575" y="1803780"/>
            <a:ext cx="10349982" cy="366779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5270" indent="-244475">
              <a:lnSpc>
                <a:spcPts val="2715"/>
              </a:lnSpc>
              <a:spcBef>
                <a:spcPts val="105"/>
              </a:spcBef>
              <a:buSzPct val="95833"/>
              <a:buFont typeface="Wingdings"/>
              <a:buChar char=""/>
              <a:tabLst>
                <a:tab pos="255270" algn="l"/>
              </a:tabLst>
            </a:pP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relies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soley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alams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(buzzer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>
              <a:lnSpc>
                <a:spcPts val="2715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siren)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intervention,</a:t>
            </a:r>
            <a:r>
              <a:rPr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leading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delays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suppression.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5080" indent="-231140">
              <a:lnSpc>
                <a:spcPct val="90000"/>
              </a:lnSpc>
              <a:spcBef>
                <a:spcPts val="1010"/>
              </a:spcBef>
              <a:buSzPct val="95833"/>
              <a:buFont typeface="Wingdings"/>
              <a:buChar char=""/>
              <a:tabLst>
                <a:tab pos="241300" algn="l"/>
                <a:tab pos="25463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Without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immediate,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action,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fires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escalate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rapidly, </a:t>
            </a:r>
            <a:r>
              <a:rPr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especially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rely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inadequate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</a:t>
            </a:r>
            <a:r>
              <a:rPr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5270" indent="-244475">
              <a:lnSpc>
                <a:spcPct val="100000"/>
              </a:lnSpc>
              <a:spcBef>
                <a:spcPts val="725"/>
              </a:spcBef>
              <a:buSzPct val="95833"/>
              <a:buFont typeface="Wingdings"/>
              <a:buChar char=""/>
              <a:tabLst>
                <a:tab pos="25527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stable,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capable</a:t>
            </a:r>
            <a:r>
              <a:rPr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of: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240029" algn="l"/>
              </a:tabLst>
            </a:pP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Confirming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smoke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(Sensor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Fusion).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Providing</a:t>
            </a:r>
            <a:r>
              <a:rPr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remote,</a:t>
            </a:r>
            <a:r>
              <a:rPr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sz="24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</a:t>
            </a:r>
            <a:r>
              <a:rPr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(GSM).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Initiating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immediate,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timed,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suppression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(Water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Pump).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338370"/>
            <a:ext cx="328231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70" dirty="0"/>
              <a:t>Objectives</a:t>
            </a:r>
            <a:endParaRPr sz="4800" dirty="0"/>
          </a:p>
        </p:txBody>
      </p:sp>
      <p:sp>
        <p:nvSpPr>
          <p:cNvPr id="3" name="object 3"/>
          <p:cNvSpPr txBox="1"/>
          <p:nvPr/>
        </p:nvSpPr>
        <p:spPr>
          <a:xfrm>
            <a:off x="447675" y="1278719"/>
            <a:ext cx="6034088" cy="5007781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98450" marR="5080" indent="-286385">
              <a:lnSpc>
                <a:spcPct val="89900"/>
              </a:lnSpc>
              <a:spcBef>
                <a:spcPts val="370"/>
              </a:spcBef>
              <a:buFont typeface="Wingdings"/>
              <a:buChar char=""/>
              <a:tabLst>
                <a:tab pos="298450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</a:t>
            </a:r>
            <a:r>
              <a:rPr sz="20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</a:t>
            </a:r>
            <a:r>
              <a:rPr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r>
              <a:rPr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Suppression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20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(AFDSS)</a:t>
            </a:r>
            <a:r>
              <a:rPr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0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UNO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R3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sz="2000"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285750" indent="-286385">
              <a:lnSpc>
                <a:spcPct val="90800"/>
              </a:lnSpc>
              <a:spcBef>
                <a:spcPts val="975"/>
              </a:spcBef>
              <a:buFont typeface="Wingdings"/>
              <a:buChar char=""/>
              <a:tabLst>
                <a:tab pos="298450" algn="l"/>
              </a:tabLst>
            </a:pP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Integrity: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</a:t>
            </a:r>
            <a:r>
              <a:rPr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(Flame</a:t>
            </a:r>
            <a:r>
              <a:rPr sz="20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MQ-2)</a:t>
            </a:r>
            <a:r>
              <a:rPr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maximize </a:t>
            </a:r>
            <a:r>
              <a:rPr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minimize</a:t>
            </a:r>
            <a:r>
              <a:rPr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452755" indent="-286385">
              <a:lnSpc>
                <a:spcPct val="89700"/>
              </a:lnSpc>
              <a:spcBef>
                <a:spcPts val="1000"/>
              </a:spcBef>
              <a:buFont typeface="Wingdings"/>
              <a:buChar char=""/>
              <a:tabLst>
                <a:tab pos="298450" algn="l"/>
              </a:tabLst>
            </a:pP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20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Stability:</a:t>
            </a:r>
            <a:r>
              <a:rPr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</a:t>
            </a:r>
            <a:r>
              <a:rPr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dual-supply 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isolate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</a:t>
            </a:r>
            <a:r>
              <a:rPr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inductive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loads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(Pump,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GSM)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prevent 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20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27305" indent="-286385">
              <a:lnSpc>
                <a:spcPts val="2180"/>
              </a:lnSpc>
              <a:spcBef>
                <a:spcPts val="1010"/>
              </a:spcBef>
              <a:buFont typeface="Wingdings"/>
              <a:buChar char=""/>
              <a:tabLst>
                <a:tab pos="298450" algn="l"/>
              </a:tabLst>
            </a:pP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</a:t>
            </a:r>
            <a:r>
              <a:rPr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Integration:</a:t>
            </a:r>
            <a:r>
              <a:rPr sz="20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</a:t>
            </a:r>
            <a:r>
              <a:rPr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protection</a:t>
            </a:r>
            <a:r>
              <a:rPr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(Flyback</a:t>
            </a:r>
            <a:r>
              <a:rPr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Diode)</a:t>
            </a:r>
            <a:r>
              <a:rPr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0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inductive</a:t>
            </a:r>
            <a:r>
              <a:rPr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longevity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(Relay).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99060" indent="-286385">
              <a:lnSpc>
                <a:spcPct val="89200"/>
              </a:lnSpc>
              <a:spcBef>
                <a:spcPts val="969"/>
              </a:spcBef>
              <a:buFont typeface="Wingdings"/>
              <a:buChar char=""/>
              <a:tabLst>
                <a:tab pos="298450" algn="l"/>
              </a:tabLst>
            </a:pPr>
            <a:r>
              <a:rPr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Protocol:</a:t>
            </a:r>
            <a:r>
              <a:rPr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</a:t>
            </a:r>
            <a:r>
              <a:rPr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blocking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timed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suppression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</a:t>
            </a:r>
            <a:r>
              <a:rPr sz="20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GSM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alerting.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200" y="914400"/>
            <a:ext cx="5867400" cy="5372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" y="228600"/>
            <a:ext cx="4758373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dirty="0"/>
              <a:t>Literature</a:t>
            </a:r>
            <a:r>
              <a:rPr sz="4400" spc="-175" dirty="0"/>
              <a:t> </a:t>
            </a:r>
            <a:r>
              <a:rPr sz="4400" spc="-10" dirty="0"/>
              <a:t>Review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235902" y="1098281"/>
            <a:ext cx="8527098" cy="5193858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4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Foundational</a:t>
            </a:r>
            <a:r>
              <a:rPr sz="2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Sensor</a:t>
            </a:r>
            <a:r>
              <a:rPr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0029" marR="5080" indent="-227965">
              <a:lnSpc>
                <a:spcPct val="89200"/>
              </a:lnSpc>
              <a:spcBef>
                <a:spcPts val="101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b="1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Established</a:t>
            </a:r>
            <a:r>
              <a:rPr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typically</a:t>
            </a:r>
            <a:r>
              <a:rPr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 </a:t>
            </a:r>
            <a:r>
              <a:rPr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</a:t>
            </a:r>
            <a:r>
              <a:rPr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 </a:t>
            </a:r>
            <a:r>
              <a:rPr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Detection,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Alarm/Alert,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Suppression.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789"/>
              </a:spcBef>
              <a:buFont typeface="Wingdings"/>
              <a:buChar char="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95250" indent="-229235">
              <a:lnSpc>
                <a:spcPct val="89700"/>
              </a:lnSpc>
              <a:buFont typeface="Wingdings"/>
              <a:buChar char=""/>
              <a:tabLst>
                <a:tab pos="241300" algn="l"/>
              </a:tabLst>
            </a:pPr>
            <a:r>
              <a:rPr sz="2000" b="1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</a:t>
            </a:r>
            <a:r>
              <a:rPr sz="2000" b="1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r>
              <a:rPr sz="2000" b="1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  <a:r>
              <a:rPr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Microcontroller-</a:t>
            </a:r>
            <a:r>
              <a:rPr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frequently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rely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infrared</a:t>
            </a:r>
            <a:r>
              <a:rPr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flame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oxide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 </a:t>
            </a:r>
            <a:r>
              <a:rPr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(MQ-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series)</a:t>
            </a:r>
            <a:r>
              <a:rPr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</a:t>
            </a:r>
            <a:r>
              <a:rPr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combustible</a:t>
            </a:r>
            <a:r>
              <a:rPr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 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concentrations.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685"/>
              </a:spcBef>
              <a:buFont typeface="Wingdings"/>
              <a:buChar char="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0029" marR="166370" indent="-227965">
              <a:lnSpc>
                <a:spcPct val="90800"/>
              </a:lnSpc>
              <a:buFont typeface="Wingdings"/>
              <a:buChar char=""/>
              <a:tabLst>
                <a:tab pos="241300" algn="l"/>
              </a:tabLst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</a:t>
            </a:r>
            <a:r>
              <a:rPr sz="2000" b="1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Mechanisms:</a:t>
            </a:r>
            <a:r>
              <a:rPr sz="2000" b="1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Beyond</a:t>
            </a:r>
            <a:r>
              <a:rPr sz="20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r>
              <a:rPr sz="2000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buzzers,</a:t>
            </a:r>
            <a:r>
              <a:rPr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 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GSM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(like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SIM900)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been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established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	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</a:t>
            </a:r>
            <a:r>
              <a:rPr sz="20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0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warnings.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685"/>
              </a:spcBef>
              <a:buFont typeface="Wingdings"/>
              <a:buChar char="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306070" indent="-229235">
              <a:lnSpc>
                <a:spcPct val="90800"/>
              </a:lnSpc>
              <a:spcBef>
                <a:spcPts val="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b="1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20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Advancement</a:t>
            </a:r>
            <a:r>
              <a:rPr sz="2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</a:t>
            </a:r>
            <a:r>
              <a:rPr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upon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</a:t>
            </a:r>
            <a:r>
              <a:rPr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prioritizing</a:t>
            </a:r>
            <a:r>
              <a:rPr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stability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(power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isolation)</a:t>
            </a:r>
            <a:r>
              <a:rPr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</a:t>
            </a:r>
            <a:r>
              <a:rPr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robustness</a:t>
            </a:r>
            <a:r>
              <a:rPr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(sensor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fusion)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259080"/>
            <a:ext cx="5059363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50" dirty="0"/>
              <a:t>Proposed</a:t>
            </a:r>
            <a:r>
              <a:rPr sz="4800" spc="-140" dirty="0"/>
              <a:t> </a:t>
            </a:r>
            <a:r>
              <a:rPr sz="4800" spc="-10" dirty="0"/>
              <a:t>Model</a:t>
            </a:r>
            <a:endParaRPr sz="4800" dirty="0"/>
          </a:p>
        </p:txBody>
      </p:sp>
      <p:sp>
        <p:nvSpPr>
          <p:cNvPr id="3" name="object 3"/>
          <p:cNvSpPr txBox="1"/>
          <p:nvPr/>
        </p:nvSpPr>
        <p:spPr>
          <a:xfrm>
            <a:off x="346664" y="1447800"/>
            <a:ext cx="5301933" cy="444182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550" spc="100" dirty="0">
                <a:latin typeface="Calibri"/>
                <a:cs typeface="Calibri"/>
              </a:rPr>
              <a:t>Core</a:t>
            </a:r>
            <a:r>
              <a:rPr sz="1550" dirty="0">
                <a:latin typeface="Calibri"/>
                <a:cs typeface="Calibri"/>
              </a:rPr>
              <a:t> </a:t>
            </a:r>
            <a:r>
              <a:rPr sz="1550" spc="20" dirty="0">
                <a:latin typeface="Calibri"/>
                <a:cs typeface="Calibri"/>
              </a:rPr>
              <a:t>Methodology:</a:t>
            </a:r>
            <a:r>
              <a:rPr sz="1550" spc="10" dirty="0">
                <a:latin typeface="Calibri"/>
                <a:cs typeface="Calibri"/>
              </a:rPr>
              <a:t> </a:t>
            </a:r>
            <a:r>
              <a:rPr sz="1550" spc="100" dirty="0">
                <a:latin typeface="Calibri"/>
                <a:cs typeface="Calibri"/>
              </a:rPr>
              <a:t>Dual-</a:t>
            </a:r>
            <a:r>
              <a:rPr sz="1550" spc="85" dirty="0">
                <a:latin typeface="Calibri"/>
                <a:cs typeface="Calibri"/>
              </a:rPr>
              <a:t>Supply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spc="75" dirty="0">
                <a:latin typeface="Calibri"/>
                <a:cs typeface="Calibri"/>
              </a:rPr>
              <a:t>and</a:t>
            </a:r>
            <a:r>
              <a:rPr sz="1550" spc="35" dirty="0">
                <a:latin typeface="Calibri"/>
                <a:cs typeface="Calibri"/>
              </a:rPr>
              <a:t> </a:t>
            </a:r>
            <a:r>
              <a:rPr sz="1550" spc="85" dirty="0">
                <a:latin typeface="Calibri"/>
                <a:cs typeface="Calibri"/>
              </a:rPr>
              <a:t>Sensor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spc="75" dirty="0">
                <a:latin typeface="Calibri"/>
                <a:cs typeface="Calibri"/>
              </a:rPr>
              <a:t>Fusion</a:t>
            </a:r>
            <a:endParaRPr sz="1550" dirty="0">
              <a:latin typeface="Calibri"/>
              <a:cs typeface="Calibri"/>
            </a:endParaRPr>
          </a:p>
          <a:p>
            <a:pPr marL="12700" marR="288290">
              <a:lnSpc>
                <a:spcPts val="1730"/>
              </a:lnSpc>
              <a:spcBef>
                <a:spcPts val="1085"/>
              </a:spcBef>
            </a:pPr>
            <a:r>
              <a:rPr sz="1550" b="1" spc="95" dirty="0">
                <a:latin typeface="Calibri"/>
                <a:cs typeface="Calibri"/>
              </a:rPr>
              <a:t>Detection</a:t>
            </a:r>
            <a:r>
              <a:rPr sz="1550" b="1" spc="-55" dirty="0">
                <a:latin typeface="Calibri"/>
                <a:cs typeface="Calibri"/>
              </a:rPr>
              <a:t> </a:t>
            </a:r>
            <a:r>
              <a:rPr sz="1550" b="1" spc="75" dirty="0">
                <a:latin typeface="Calibri"/>
                <a:cs typeface="Calibri"/>
              </a:rPr>
              <a:t>Strategy</a:t>
            </a:r>
            <a:r>
              <a:rPr sz="1550" b="1" spc="10" dirty="0">
                <a:latin typeface="Calibri"/>
                <a:cs typeface="Calibri"/>
              </a:rPr>
              <a:t> </a:t>
            </a:r>
            <a:r>
              <a:rPr sz="1550" b="1" spc="90" dirty="0">
                <a:latin typeface="Calibri"/>
                <a:cs typeface="Calibri"/>
              </a:rPr>
              <a:t>(Sensor</a:t>
            </a:r>
            <a:r>
              <a:rPr sz="1550" b="1" spc="55" dirty="0">
                <a:latin typeface="Calibri"/>
                <a:cs typeface="Calibri"/>
              </a:rPr>
              <a:t> </a:t>
            </a:r>
            <a:r>
              <a:rPr sz="1550" b="1" spc="75" dirty="0">
                <a:latin typeface="Calibri"/>
                <a:cs typeface="Calibri"/>
              </a:rPr>
              <a:t>Fusion):</a:t>
            </a:r>
            <a:r>
              <a:rPr sz="1550" b="1" spc="20" dirty="0">
                <a:latin typeface="Calibri"/>
                <a:cs typeface="Calibri"/>
              </a:rPr>
              <a:t> </a:t>
            </a:r>
            <a:r>
              <a:rPr sz="1550" spc="85" dirty="0">
                <a:latin typeface="Calibri"/>
                <a:cs typeface="Calibri"/>
              </a:rPr>
              <a:t>Suppression</a:t>
            </a:r>
            <a:r>
              <a:rPr sz="1550" spc="-10" dirty="0">
                <a:latin typeface="Calibri"/>
                <a:cs typeface="Calibri"/>
              </a:rPr>
              <a:t> </a:t>
            </a:r>
            <a:r>
              <a:rPr sz="1550" spc="70" dirty="0">
                <a:latin typeface="Calibri"/>
                <a:cs typeface="Calibri"/>
              </a:rPr>
              <a:t>is </a:t>
            </a:r>
            <a:r>
              <a:rPr sz="1550" spc="50" dirty="0">
                <a:latin typeface="Calibri"/>
                <a:cs typeface="Calibri"/>
              </a:rPr>
              <a:t>activated</a:t>
            </a:r>
            <a:r>
              <a:rPr sz="1550" spc="25" dirty="0">
                <a:latin typeface="Calibri"/>
                <a:cs typeface="Calibri"/>
              </a:rPr>
              <a:t> </a:t>
            </a:r>
            <a:r>
              <a:rPr sz="1550" spc="65" dirty="0">
                <a:latin typeface="Calibri"/>
                <a:cs typeface="Calibri"/>
              </a:rPr>
              <a:t>only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when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5" dirty="0">
                <a:latin typeface="Calibri"/>
                <a:cs typeface="Calibri"/>
              </a:rPr>
              <a:t> </a:t>
            </a:r>
            <a:r>
              <a:rPr sz="1550" spc="75" dirty="0">
                <a:latin typeface="Calibri"/>
                <a:cs typeface="Calibri"/>
              </a:rPr>
              <a:t>system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spc="70" dirty="0">
                <a:latin typeface="Calibri"/>
                <a:cs typeface="Calibri"/>
              </a:rPr>
              <a:t>confirms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spc="50" dirty="0">
                <a:latin typeface="Calibri"/>
                <a:cs typeface="Calibri"/>
              </a:rPr>
              <a:t>both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high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spc="60" dirty="0">
                <a:latin typeface="Calibri"/>
                <a:cs typeface="Calibri"/>
              </a:rPr>
              <a:t>IR </a:t>
            </a:r>
            <a:r>
              <a:rPr sz="1550" spc="10" dirty="0">
                <a:latin typeface="Calibri"/>
                <a:cs typeface="Calibri"/>
              </a:rPr>
              <a:t>intensity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spc="80" dirty="0">
                <a:latin typeface="Calibri"/>
                <a:cs typeface="Calibri"/>
              </a:rPr>
              <a:t>(Flame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spc="70" dirty="0">
                <a:latin typeface="Calibri"/>
                <a:cs typeface="Calibri"/>
              </a:rPr>
              <a:t>Sensor)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spc="100" dirty="0">
                <a:latin typeface="Calibri"/>
                <a:cs typeface="Calibri"/>
              </a:rPr>
              <a:t>AND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spc="10" dirty="0">
                <a:latin typeface="Calibri"/>
                <a:cs typeface="Calibri"/>
              </a:rPr>
              <a:t>elevated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spc="85" dirty="0">
                <a:latin typeface="Calibri"/>
                <a:cs typeface="Calibri"/>
              </a:rPr>
              <a:t>gas </a:t>
            </a:r>
            <a:r>
              <a:rPr sz="1550" spc="55" dirty="0">
                <a:latin typeface="Calibri"/>
                <a:cs typeface="Calibri"/>
              </a:rPr>
              <a:t>concentration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(MQ-</a:t>
            </a:r>
            <a:r>
              <a:rPr sz="1550" spc="55" dirty="0">
                <a:latin typeface="Calibri"/>
                <a:cs typeface="Calibri"/>
              </a:rPr>
              <a:t>2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spc="70" dirty="0">
                <a:latin typeface="Calibri"/>
                <a:cs typeface="Calibri"/>
              </a:rPr>
              <a:t>Sensor) </a:t>
            </a:r>
            <a:r>
              <a:rPr sz="1550" spc="55" dirty="0">
                <a:latin typeface="Calibri"/>
                <a:cs typeface="Calibri"/>
              </a:rPr>
              <a:t>simultaneously.</a:t>
            </a:r>
            <a:endParaRPr sz="15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550" b="1" spc="55" dirty="0">
                <a:latin typeface="Calibri"/>
                <a:cs typeface="Calibri"/>
              </a:rPr>
              <a:t>Power</a:t>
            </a:r>
            <a:r>
              <a:rPr sz="1550" b="1" spc="-25" dirty="0">
                <a:latin typeface="Calibri"/>
                <a:cs typeface="Calibri"/>
              </a:rPr>
              <a:t> </a:t>
            </a:r>
            <a:r>
              <a:rPr sz="1550" b="1" spc="80" dirty="0">
                <a:latin typeface="Calibri"/>
                <a:cs typeface="Calibri"/>
              </a:rPr>
              <a:t>Architecture</a:t>
            </a:r>
            <a:r>
              <a:rPr sz="1550" b="1" spc="-15" dirty="0">
                <a:latin typeface="Calibri"/>
                <a:cs typeface="Calibri"/>
              </a:rPr>
              <a:t> </a:t>
            </a:r>
            <a:r>
              <a:rPr sz="1550" b="1" spc="95" dirty="0">
                <a:latin typeface="Calibri"/>
                <a:cs typeface="Calibri"/>
              </a:rPr>
              <a:t>(Dual-</a:t>
            </a:r>
            <a:r>
              <a:rPr sz="1550" b="1" spc="65" dirty="0">
                <a:latin typeface="Calibri"/>
                <a:cs typeface="Calibri"/>
              </a:rPr>
              <a:t>Supply):</a:t>
            </a:r>
            <a:endParaRPr sz="1550" dirty="0">
              <a:latin typeface="Calibri"/>
              <a:cs typeface="Calibri"/>
            </a:endParaRPr>
          </a:p>
          <a:p>
            <a:pPr marL="298450" marR="872490" indent="-286385">
              <a:lnSpc>
                <a:spcPts val="1730"/>
              </a:lnSpc>
              <a:spcBef>
                <a:spcPts val="1085"/>
              </a:spcBef>
              <a:buFont typeface="Arial"/>
              <a:buChar char="•"/>
              <a:tabLst>
                <a:tab pos="298450" algn="l"/>
              </a:tabLst>
            </a:pPr>
            <a:r>
              <a:rPr sz="1550" spc="60" dirty="0">
                <a:latin typeface="Calibri"/>
                <a:cs typeface="Calibri"/>
              </a:rPr>
              <a:t>12V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Adapter:</a:t>
            </a:r>
            <a:r>
              <a:rPr sz="1550" spc="95" dirty="0">
                <a:latin typeface="Calibri"/>
                <a:cs typeface="Calibri"/>
              </a:rPr>
              <a:t> </a:t>
            </a:r>
            <a:r>
              <a:rPr sz="1550" spc="70" dirty="0">
                <a:latin typeface="Calibri"/>
                <a:cs typeface="Calibri"/>
              </a:rPr>
              <a:t>Dedicated</a:t>
            </a:r>
            <a:r>
              <a:rPr sz="1550" spc="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spc="50" dirty="0">
                <a:latin typeface="Calibri"/>
                <a:cs typeface="Calibri"/>
              </a:rPr>
              <a:t>Arduino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spc="90" dirty="0">
                <a:latin typeface="Calibri"/>
                <a:cs typeface="Calibri"/>
              </a:rPr>
              <a:t>UNO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spc="65" dirty="0">
                <a:latin typeface="Calibri"/>
                <a:cs typeface="Calibri"/>
              </a:rPr>
              <a:t>R3 </a:t>
            </a:r>
            <a:r>
              <a:rPr sz="1550" spc="60" dirty="0">
                <a:latin typeface="Calibri"/>
                <a:cs typeface="Calibri"/>
              </a:rPr>
              <a:t>(Logic/Low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spc="60" dirty="0">
                <a:latin typeface="Calibri"/>
                <a:cs typeface="Calibri"/>
              </a:rPr>
              <a:t>Current</a:t>
            </a:r>
            <a:r>
              <a:rPr sz="1550" spc="-10" dirty="0">
                <a:latin typeface="Calibri"/>
                <a:cs typeface="Calibri"/>
              </a:rPr>
              <a:t> </a:t>
            </a:r>
            <a:r>
              <a:rPr sz="1550" spc="50" dirty="0">
                <a:latin typeface="Calibri"/>
                <a:cs typeface="Calibri"/>
              </a:rPr>
              <a:t>Supply).</a:t>
            </a:r>
            <a:endParaRPr sz="1550" dirty="0">
              <a:latin typeface="Calibri"/>
              <a:cs typeface="Calibri"/>
            </a:endParaRPr>
          </a:p>
          <a:p>
            <a:pPr marL="298450" marR="228600" indent="-286385">
              <a:lnSpc>
                <a:spcPts val="1730"/>
              </a:lnSpc>
              <a:spcBef>
                <a:spcPts val="969"/>
              </a:spcBef>
              <a:buFont typeface="Arial"/>
              <a:buChar char="•"/>
              <a:tabLst>
                <a:tab pos="298450" algn="l"/>
              </a:tabLst>
            </a:pPr>
            <a:r>
              <a:rPr sz="1550" spc="10" dirty="0">
                <a:latin typeface="Calibri"/>
                <a:cs typeface="Calibri"/>
              </a:rPr>
              <a:t>5V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spc="125" dirty="0">
                <a:latin typeface="Calibri"/>
                <a:cs typeface="Calibri"/>
              </a:rPr>
              <a:t>AC-</a:t>
            </a:r>
            <a:r>
              <a:rPr sz="1550" spc="210" dirty="0">
                <a:latin typeface="Calibri"/>
                <a:cs typeface="Calibri"/>
              </a:rPr>
              <a:t>DC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spc="10" dirty="0">
                <a:latin typeface="Calibri"/>
                <a:cs typeface="Calibri"/>
              </a:rPr>
              <a:t>Adapter:</a:t>
            </a:r>
            <a:r>
              <a:rPr sz="1550" spc="5" dirty="0">
                <a:latin typeface="Calibri"/>
                <a:cs typeface="Calibri"/>
              </a:rPr>
              <a:t> </a:t>
            </a:r>
            <a:r>
              <a:rPr sz="1550" spc="70" dirty="0">
                <a:latin typeface="Calibri"/>
                <a:cs typeface="Calibri"/>
              </a:rPr>
              <a:t>Dedicated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spc="10" dirty="0">
                <a:latin typeface="Calibri"/>
                <a:cs typeface="Calibri"/>
              </a:rPr>
              <a:t>to</a:t>
            </a:r>
            <a:r>
              <a:rPr sz="1550" spc="130" dirty="0">
                <a:latin typeface="Calibri"/>
                <a:cs typeface="Calibri"/>
              </a:rPr>
              <a:t> </a:t>
            </a:r>
            <a:r>
              <a:rPr sz="1550" spc="55" dirty="0">
                <a:latin typeface="Calibri"/>
                <a:cs typeface="Calibri"/>
              </a:rPr>
              <a:t>high-</a:t>
            </a:r>
            <a:r>
              <a:rPr sz="1550" spc="35" dirty="0">
                <a:latin typeface="Calibri"/>
                <a:cs typeface="Calibri"/>
              </a:rPr>
              <a:t>current </a:t>
            </a:r>
            <a:r>
              <a:rPr sz="1550" spc="55" dirty="0">
                <a:latin typeface="Calibri"/>
                <a:cs typeface="Calibri"/>
              </a:rPr>
              <a:t>peripherals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(SIM900</a:t>
            </a:r>
            <a:r>
              <a:rPr sz="1550" spc="80" dirty="0">
                <a:latin typeface="Calibri"/>
                <a:cs typeface="Calibri"/>
              </a:rPr>
              <a:t> GSM,</a:t>
            </a:r>
            <a:r>
              <a:rPr sz="1550" spc="5" dirty="0">
                <a:latin typeface="Calibri"/>
                <a:cs typeface="Calibri"/>
              </a:rPr>
              <a:t> </a:t>
            </a:r>
            <a:r>
              <a:rPr sz="1550" spc="80" dirty="0">
                <a:latin typeface="Calibri"/>
                <a:cs typeface="Calibri"/>
              </a:rPr>
              <a:t>Pump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spc="75" dirty="0">
                <a:latin typeface="Calibri"/>
                <a:cs typeface="Calibri"/>
              </a:rPr>
              <a:t>Load)</a:t>
            </a:r>
            <a:r>
              <a:rPr sz="1550" spc="8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for</a:t>
            </a:r>
            <a:r>
              <a:rPr sz="1550" spc="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stability.</a:t>
            </a:r>
            <a:endParaRPr sz="1550" dirty="0">
              <a:latin typeface="Calibri"/>
              <a:cs typeface="Calibri"/>
            </a:endParaRPr>
          </a:p>
          <a:p>
            <a:pPr marL="12700" marR="193675">
              <a:lnSpc>
                <a:spcPts val="1730"/>
              </a:lnSpc>
              <a:spcBef>
                <a:spcPts val="969"/>
              </a:spcBef>
            </a:pPr>
            <a:r>
              <a:rPr sz="1550" b="1" spc="90" dirty="0">
                <a:latin typeface="Calibri"/>
                <a:cs typeface="Calibri"/>
              </a:rPr>
              <a:t>Control</a:t>
            </a:r>
            <a:r>
              <a:rPr sz="1550" b="1" spc="65" dirty="0">
                <a:latin typeface="Calibri"/>
                <a:cs typeface="Calibri"/>
              </a:rPr>
              <a:t> </a:t>
            </a:r>
            <a:r>
              <a:rPr sz="1550" b="1" spc="75" dirty="0">
                <a:latin typeface="Calibri"/>
                <a:cs typeface="Calibri"/>
              </a:rPr>
              <a:t>Protocol:</a:t>
            </a:r>
            <a:r>
              <a:rPr sz="1550" b="1" spc="65" dirty="0">
                <a:latin typeface="Calibri"/>
                <a:cs typeface="Calibri"/>
              </a:rPr>
              <a:t> </a:t>
            </a:r>
            <a:r>
              <a:rPr sz="1550" spc="105" dirty="0">
                <a:latin typeface="Calibri"/>
                <a:cs typeface="Calibri"/>
              </a:rPr>
              <a:t>Use</a:t>
            </a:r>
            <a:r>
              <a:rPr sz="1550" dirty="0">
                <a:latin typeface="Calibri"/>
                <a:cs typeface="Calibri"/>
              </a:rPr>
              <a:t> </a:t>
            </a:r>
            <a:r>
              <a:rPr sz="1550" spc="75" dirty="0">
                <a:latin typeface="Calibri"/>
                <a:cs typeface="Calibri"/>
              </a:rPr>
              <a:t>non-blocking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timing</a:t>
            </a:r>
            <a:r>
              <a:rPr sz="1550" spc="-10" dirty="0">
                <a:latin typeface="Calibri"/>
                <a:cs typeface="Calibri"/>
              </a:rPr>
              <a:t> </a:t>
            </a:r>
            <a:r>
              <a:rPr sz="1550" spc="45" dirty="0">
                <a:latin typeface="Calibri"/>
                <a:cs typeface="Calibri"/>
              </a:rPr>
              <a:t>(millis())</a:t>
            </a:r>
            <a:r>
              <a:rPr sz="1550" spc="-10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to </a:t>
            </a:r>
            <a:r>
              <a:rPr sz="1550" spc="80" dirty="0">
                <a:latin typeface="Calibri"/>
                <a:cs typeface="Calibri"/>
              </a:rPr>
              <a:t>manage</a:t>
            </a:r>
            <a:r>
              <a:rPr sz="1550" spc="-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fixed</a:t>
            </a:r>
            <a:r>
              <a:rPr sz="1550" spc="15" dirty="0">
                <a:latin typeface="Calibri"/>
                <a:cs typeface="Calibri"/>
              </a:rPr>
              <a:t> </a:t>
            </a:r>
            <a:r>
              <a:rPr sz="1550" spc="65" dirty="0">
                <a:latin typeface="Calibri"/>
                <a:cs typeface="Calibri"/>
              </a:rPr>
              <a:t>10-</a:t>
            </a:r>
            <a:r>
              <a:rPr sz="1550" spc="100" dirty="0">
                <a:latin typeface="Calibri"/>
                <a:cs typeface="Calibri"/>
              </a:rPr>
              <a:t>second </a:t>
            </a:r>
            <a:r>
              <a:rPr sz="1550" spc="85" dirty="0">
                <a:latin typeface="Calibri"/>
                <a:cs typeface="Calibri"/>
              </a:rPr>
              <a:t>suppression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spc="90" dirty="0">
                <a:latin typeface="Calibri"/>
                <a:cs typeface="Calibri"/>
              </a:rPr>
              <a:t>cycle</a:t>
            </a:r>
            <a:r>
              <a:rPr sz="1550" spc="80" dirty="0">
                <a:latin typeface="Calibri"/>
                <a:cs typeface="Calibri"/>
              </a:rPr>
              <a:t> </a:t>
            </a:r>
            <a:r>
              <a:rPr sz="1550" spc="50" dirty="0">
                <a:latin typeface="Calibri"/>
                <a:cs typeface="Calibri"/>
              </a:rPr>
              <a:t>and </a:t>
            </a:r>
            <a:r>
              <a:rPr sz="1550" dirty="0">
                <a:latin typeface="Calibri"/>
                <a:cs typeface="Calibri"/>
              </a:rPr>
              <a:t>prevent</a:t>
            </a:r>
            <a:r>
              <a:rPr sz="1550" spc="120" dirty="0">
                <a:latin typeface="Calibri"/>
                <a:cs typeface="Calibri"/>
              </a:rPr>
              <a:t> </a:t>
            </a:r>
            <a:r>
              <a:rPr sz="1550" spc="90" dirty="0">
                <a:latin typeface="Calibri"/>
                <a:cs typeface="Calibri"/>
              </a:rPr>
              <a:t>code</a:t>
            </a:r>
            <a:r>
              <a:rPr sz="1550" spc="5" dirty="0">
                <a:latin typeface="Calibri"/>
                <a:cs typeface="Calibri"/>
              </a:rPr>
              <a:t> </a:t>
            </a:r>
            <a:r>
              <a:rPr sz="1550" spc="90" dirty="0">
                <a:latin typeface="Calibri"/>
                <a:cs typeface="Calibri"/>
              </a:rPr>
              <a:t>lock-</a:t>
            </a:r>
            <a:r>
              <a:rPr sz="1550" spc="75" dirty="0">
                <a:latin typeface="Calibri"/>
                <a:cs typeface="Calibri"/>
              </a:rPr>
              <a:t>up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spc="110" dirty="0">
                <a:latin typeface="Calibri"/>
                <a:cs typeface="Calibri"/>
              </a:rPr>
              <a:t>caused</a:t>
            </a:r>
            <a:r>
              <a:rPr sz="1550" spc="1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by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spc="70" dirty="0">
                <a:latin typeface="Calibri"/>
                <a:cs typeface="Calibri"/>
              </a:rPr>
              <a:t>long</a:t>
            </a:r>
            <a:r>
              <a:rPr sz="1550" dirty="0">
                <a:latin typeface="Calibri"/>
                <a:cs typeface="Calibri"/>
              </a:rPr>
              <a:t> delay()</a:t>
            </a:r>
            <a:r>
              <a:rPr sz="1550" spc="90" dirty="0">
                <a:latin typeface="Calibri"/>
                <a:cs typeface="Calibri"/>
              </a:rPr>
              <a:t> </a:t>
            </a:r>
            <a:r>
              <a:rPr sz="1550" spc="85" dirty="0">
                <a:latin typeface="Calibri"/>
                <a:cs typeface="Calibri"/>
              </a:rPr>
              <a:t>calls.</a:t>
            </a:r>
            <a:endParaRPr sz="1550" dirty="0">
              <a:latin typeface="Calibri"/>
              <a:cs typeface="Calibri"/>
            </a:endParaRPr>
          </a:p>
          <a:p>
            <a:pPr marL="12700" marR="5080">
              <a:lnSpc>
                <a:spcPts val="1730"/>
              </a:lnSpc>
              <a:spcBef>
                <a:spcPts val="1045"/>
              </a:spcBef>
            </a:pPr>
            <a:r>
              <a:rPr sz="1550" b="1" spc="105" dirty="0">
                <a:latin typeface="Calibri"/>
                <a:cs typeface="Calibri"/>
              </a:rPr>
              <a:t>Suppression</a:t>
            </a:r>
            <a:r>
              <a:rPr sz="1550" b="1" spc="10" dirty="0">
                <a:latin typeface="Calibri"/>
                <a:cs typeface="Calibri"/>
              </a:rPr>
              <a:t> </a:t>
            </a:r>
            <a:r>
              <a:rPr sz="1550" b="1" spc="100" dirty="0">
                <a:latin typeface="Calibri"/>
                <a:cs typeface="Calibri"/>
              </a:rPr>
              <a:t>Mechanism:</a:t>
            </a:r>
            <a:r>
              <a:rPr sz="1550" b="1" spc="30" dirty="0">
                <a:latin typeface="Calibri"/>
                <a:cs typeface="Calibri"/>
              </a:rPr>
              <a:t> </a:t>
            </a:r>
            <a:r>
              <a:rPr sz="1550" spc="50" dirty="0">
                <a:latin typeface="Calibri"/>
                <a:cs typeface="Calibri"/>
              </a:rPr>
              <a:t>Digital</a:t>
            </a:r>
            <a:r>
              <a:rPr sz="1550" spc="-10" dirty="0">
                <a:latin typeface="Calibri"/>
                <a:cs typeface="Calibri"/>
              </a:rPr>
              <a:t> </a:t>
            </a:r>
            <a:r>
              <a:rPr sz="1550" spc="50" dirty="0">
                <a:latin typeface="Calibri"/>
                <a:cs typeface="Calibri"/>
              </a:rPr>
              <a:t>pin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spc="70" dirty="0">
                <a:latin typeface="Calibri"/>
                <a:cs typeface="Calibri"/>
              </a:rPr>
              <a:t>D7</a:t>
            </a:r>
            <a:r>
              <a:rPr sz="1550" spc="10" dirty="0">
                <a:latin typeface="Calibri"/>
                <a:cs typeface="Calibri"/>
              </a:rPr>
              <a:t> </a:t>
            </a:r>
            <a:r>
              <a:rPr sz="1550" spc="50" dirty="0">
                <a:latin typeface="Calibri"/>
                <a:cs typeface="Calibri"/>
              </a:rPr>
              <a:t>drives</a:t>
            </a:r>
            <a:r>
              <a:rPr sz="1550" spc="10" dirty="0">
                <a:latin typeface="Calibri"/>
                <a:cs typeface="Calibri"/>
              </a:rPr>
              <a:t> </a:t>
            </a:r>
            <a:r>
              <a:rPr sz="1550" spc="95" dirty="0">
                <a:latin typeface="Calibri"/>
                <a:cs typeface="Calibri"/>
              </a:rPr>
              <a:t>a</a:t>
            </a:r>
            <a:r>
              <a:rPr sz="1550" spc="-60" dirty="0">
                <a:latin typeface="Calibri"/>
                <a:cs typeface="Calibri"/>
              </a:rPr>
              <a:t> </a:t>
            </a:r>
            <a:r>
              <a:rPr sz="1550" spc="50" dirty="0">
                <a:latin typeface="Calibri"/>
                <a:cs typeface="Calibri"/>
              </a:rPr>
              <a:t>5V Relay,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spc="65" dirty="0">
                <a:latin typeface="Calibri"/>
                <a:cs typeface="Calibri"/>
              </a:rPr>
              <a:t>which</a:t>
            </a:r>
            <a:r>
              <a:rPr sz="1550" spc="20" dirty="0">
                <a:latin typeface="Calibri"/>
                <a:cs typeface="Calibri"/>
              </a:rPr>
              <a:t> </a:t>
            </a:r>
            <a:r>
              <a:rPr sz="1550" spc="114" dirty="0">
                <a:latin typeface="Calibri"/>
                <a:cs typeface="Calibri"/>
              </a:rPr>
              <a:t>acts</a:t>
            </a:r>
            <a:r>
              <a:rPr sz="1550" spc="-30" dirty="0">
                <a:latin typeface="Calibri"/>
                <a:cs typeface="Calibri"/>
              </a:rPr>
              <a:t> </a:t>
            </a:r>
            <a:r>
              <a:rPr sz="1550" spc="155" dirty="0">
                <a:latin typeface="Calibri"/>
                <a:cs typeface="Calibri"/>
              </a:rPr>
              <a:t>as</a:t>
            </a:r>
            <a:r>
              <a:rPr sz="1550" spc="-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-20" dirty="0">
                <a:latin typeface="Calibri"/>
                <a:cs typeface="Calibri"/>
              </a:rPr>
              <a:t> </a:t>
            </a:r>
            <a:r>
              <a:rPr sz="1550" spc="70" dirty="0">
                <a:latin typeface="Calibri"/>
                <a:cs typeface="Calibri"/>
              </a:rPr>
              <a:t>high-</a:t>
            </a:r>
            <a:r>
              <a:rPr sz="1550" spc="90" dirty="0">
                <a:latin typeface="Calibri"/>
                <a:cs typeface="Calibri"/>
              </a:rPr>
              <a:t>side</a:t>
            </a:r>
            <a:r>
              <a:rPr sz="1550" spc="-15" dirty="0">
                <a:latin typeface="Calibri"/>
                <a:cs typeface="Calibri"/>
              </a:rPr>
              <a:t> </a:t>
            </a:r>
            <a:r>
              <a:rPr sz="1550" spc="65" dirty="0">
                <a:latin typeface="Calibri"/>
                <a:cs typeface="Calibri"/>
              </a:rPr>
              <a:t>switch</a:t>
            </a:r>
            <a:r>
              <a:rPr sz="1550" spc="114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for</a:t>
            </a:r>
            <a:r>
              <a:rPr sz="1550" spc="-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-10" dirty="0">
                <a:latin typeface="Calibri"/>
                <a:cs typeface="Calibri"/>
              </a:rPr>
              <a:t> </a:t>
            </a:r>
            <a:r>
              <a:rPr sz="1550" spc="35" dirty="0">
                <a:latin typeface="Calibri"/>
                <a:cs typeface="Calibri"/>
              </a:rPr>
              <a:t>external </a:t>
            </a:r>
            <a:r>
              <a:rPr sz="1550" dirty="0">
                <a:latin typeface="Calibri"/>
                <a:cs typeface="Calibri"/>
              </a:rPr>
              <a:t>5V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spc="210" dirty="0">
                <a:latin typeface="Calibri"/>
                <a:cs typeface="Calibri"/>
              </a:rPr>
              <a:t>DC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spc="80" dirty="0">
                <a:latin typeface="Calibri"/>
                <a:cs typeface="Calibri"/>
              </a:rPr>
              <a:t>Pump</a:t>
            </a:r>
            <a:r>
              <a:rPr sz="1550" spc="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power</a:t>
            </a:r>
            <a:r>
              <a:rPr sz="1550" spc="10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rail.</a:t>
            </a:r>
            <a:endParaRPr sz="155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76900" y="638175"/>
            <a:ext cx="584835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381000" y="86059"/>
            <a:ext cx="4928552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</a:t>
            </a:r>
            <a:r>
              <a:rPr sz="4400" spc="-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9882" y="859709"/>
            <a:ext cx="6486752" cy="268287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850" b="1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sz="1850" b="1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50" b="1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85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50" b="1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sz="185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50" b="1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sz="185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50" b="1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</a:t>
            </a:r>
            <a:endParaRPr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spcBef>
                <a:spcPts val="459"/>
              </a:spcBef>
              <a:buFont typeface="Wingdings"/>
              <a:buChar char=""/>
              <a:tabLst>
                <a:tab pos="298450" algn="l"/>
              </a:tabLst>
            </a:pPr>
            <a:r>
              <a:rPr sz="1500" b="1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Microcontroller:</a:t>
            </a:r>
            <a:r>
              <a:rPr sz="15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sz="15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UNO</a:t>
            </a:r>
            <a:r>
              <a:rPr sz="15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R3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spcBef>
                <a:spcPts val="455"/>
              </a:spcBef>
              <a:buFont typeface="Wingdings"/>
              <a:buChar char=""/>
              <a:tabLst>
                <a:tab pos="298450" algn="l"/>
              </a:tabLst>
            </a:pPr>
            <a:r>
              <a:rPr sz="1500" b="1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r>
              <a:rPr sz="15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sz="15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(Input):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7500">
              <a:lnSpc>
                <a:spcPct val="100000"/>
              </a:lnSpc>
              <a:spcBef>
                <a:spcPts val="450"/>
              </a:spcBef>
            </a:pPr>
            <a:r>
              <a:rPr sz="15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Flame</a:t>
            </a:r>
            <a:r>
              <a:rPr sz="15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</a:t>
            </a:r>
            <a:r>
              <a:rPr sz="15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(Analog Output</a:t>
            </a:r>
            <a:r>
              <a:rPr sz="15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A0)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7500">
              <a:lnSpc>
                <a:spcPct val="100000"/>
              </a:lnSpc>
              <a:spcBef>
                <a:spcPts val="530"/>
              </a:spcBef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MQ-2</a:t>
            </a:r>
            <a:r>
              <a:rPr sz="15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Gas/Smoke</a:t>
            </a:r>
            <a:r>
              <a:rPr sz="15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</a:t>
            </a:r>
            <a:r>
              <a:rPr sz="15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(Analog</a:t>
            </a:r>
            <a:r>
              <a:rPr sz="15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15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A1)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spcBef>
                <a:spcPts val="455"/>
              </a:spcBef>
              <a:buFont typeface="Wingdings"/>
              <a:buChar char=""/>
              <a:tabLst>
                <a:tab pos="298450" algn="l"/>
              </a:tabLst>
            </a:pPr>
            <a:r>
              <a:rPr sz="1500" b="1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Actuators</a:t>
            </a:r>
            <a:r>
              <a:rPr sz="15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(Output):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7500">
              <a:lnSpc>
                <a:spcPct val="100000"/>
              </a:lnSpc>
              <a:spcBef>
                <a:spcPts val="450"/>
              </a:spcBef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5V</a:t>
            </a:r>
            <a:r>
              <a:rPr sz="15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</a:t>
            </a:r>
            <a:r>
              <a:rPr sz="15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(Audible</a:t>
            </a:r>
            <a:r>
              <a:rPr sz="15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Alarm,</a:t>
            </a:r>
            <a:r>
              <a:rPr sz="15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</a:t>
            </a:r>
            <a:r>
              <a:rPr sz="15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D8)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7500" marR="332105">
              <a:lnSpc>
                <a:spcPct val="125099"/>
              </a:lnSpc>
            </a:pPr>
            <a:r>
              <a:rPr sz="15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5V</a:t>
            </a:r>
            <a:r>
              <a:rPr sz="15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Relay</a:t>
            </a:r>
            <a:r>
              <a:rPr sz="15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sz="15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(Pump</a:t>
            </a:r>
            <a:r>
              <a:rPr sz="15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Control,</a:t>
            </a:r>
            <a:r>
              <a:rPr sz="15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</a:t>
            </a:r>
            <a:r>
              <a:rPr sz="15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D7)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5V</a:t>
            </a:r>
            <a:r>
              <a:rPr sz="15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</a:t>
            </a:r>
            <a:r>
              <a:rPr sz="15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Pump</a:t>
            </a:r>
            <a:r>
              <a:rPr sz="15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(Suppression</a:t>
            </a:r>
            <a:r>
              <a:rPr sz="15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Mechanism)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9882" y="3574669"/>
            <a:ext cx="43364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8450" algn="l"/>
              </a:tabLst>
            </a:pPr>
            <a:r>
              <a:rPr sz="1500" b="1" spc="75" dirty="0">
                <a:latin typeface="Calibri"/>
                <a:cs typeface="Calibri"/>
              </a:rPr>
              <a:t>Communication</a:t>
            </a:r>
            <a:r>
              <a:rPr sz="1500" spc="75" dirty="0">
                <a:latin typeface="Calibri"/>
                <a:cs typeface="Calibri"/>
              </a:rPr>
              <a:t>:</a:t>
            </a:r>
            <a:r>
              <a:rPr sz="1500" spc="55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SIM900</a:t>
            </a:r>
            <a:r>
              <a:rPr sz="1500" spc="70" dirty="0">
                <a:latin typeface="Calibri"/>
                <a:cs typeface="Calibri"/>
              </a:rPr>
              <a:t> </a:t>
            </a:r>
            <a:r>
              <a:rPr sz="1500" spc="60" dirty="0">
                <a:latin typeface="Calibri"/>
                <a:cs typeface="Calibri"/>
              </a:rPr>
              <a:t>GSM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module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(Software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9882" y="3678712"/>
            <a:ext cx="6223318" cy="203898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555"/>
              </a:spcBef>
            </a:pPr>
            <a:r>
              <a:rPr sz="15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</a:t>
            </a:r>
            <a:r>
              <a:rPr sz="15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D10/D11)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spcBef>
                <a:spcPts val="455"/>
              </a:spcBef>
              <a:buFont typeface="Wingdings"/>
              <a:buChar char=""/>
              <a:tabLst>
                <a:tab pos="298450" algn="l"/>
              </a:tabLst>
            </a:pPr>
            <a:r>
              <a:rPr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sz="15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</a:t>
            </a:r>
            <a:r>
              <a:rPr sz="1500" b="1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spc="4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500" b="1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Accessories: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>
              <a:lnSpc>
                <a:spcPct val="100000"/>
              </a:lnSpc>
              <a:spcBef>
                <a:spcPts val="450"/>
              </a:spcBef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12V</a:t>
            </a:r>
            <a:r>
              <a:rPr sz="15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Adapter</a:t>
            </a:r>
            <a:r>
              <a:rPr sz="15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(for</a:t>
            </a:r>
            <a:r>
              <a:rPr sz="15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UNO)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 marR="5080" indent="38100">
              <a:lnSpc>
                <a:spcPts val="2330"/>
              </a:lnSpc>
              <a:spcBef>
                <a:spcPts val="90"/>
              </a:spcBef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5V</a:t>
            </a:r>
            <a:r>
              <a:rPr sz="15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AC-</a:t>
            </a:r>
            <a:r>
              <a:rPr sz="1500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</a:t>
            </a:r>
            <a:r>
              <a:rPr sz="15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Adapter</a:t>
            </a:r>
            <a:r>
              <a:rPr sz="15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(for</a:t>
            </a:r>
            <a:r>
              <a:rPr sz="15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High-Current</a:t>
            </a:r>
            <a:r>
              <a:rPr sz="15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loads) </a:t>
            </a:r>
            <a:r>
              <a:rPr sz="15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Breadboards</a:t>
            </a:r>
            <a:r>
              <a:rPr sz="15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(x2),</a:t>
            </a:r>
            <a:r>
              <a:rPr sz="15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Female-</a:t>
            </a:r>
            <a:r>
              <a:rPr sz="15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</a:t>
            </a:r>
            <a:r>
              <a:rPr sz="15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Jumper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7500">
              <a:lnSpc>
                <a:spcPct val="100000"/>
              </a:lnSpc>
              <a:spcBef>
                <a:spcPts val="285"/>
              </a:spcBef>
            </a:pPr>
            <a:r>
              <a:rPr sz="1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wires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>
              <a:lnSpc>
                <a:spcPct val="100000"/>
              </a:lnSpc>
              <a:spcBef>
                <a:spcPts val="455"/>
              </a:spcBef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sz="15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Cable,</a:t>
            </a:r>
            <a:r>
              <a:rPr sz="15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5V</a:t>
            </a:r>
            <a:r>
              <a:rPr sz="15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Relay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9882" y="5680383"/>
            <a:ext cx="3022918" cy="92456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700" b="1" spc="65" dirty="0">
                <a:latin typeface="Calibri"/>
                <a:cs typeface="Calibri"/>
              </a:rPr>
              <a:t>Software</a:t>
            </a:r>
            <a:r>
              <a:rPr sz="1700" b="1" spc="-45" dirty="0">
                <a:latin typeface="Calibri"/>
                <a:cs typeface="Calibri"/>
              </a:rPr>
              <a:t> </a:t>
            </a:r>
            <a:r>
              <a:rPr sz="1700" b="1" spc="55" dirty="0">
                <a:latin typeface="Calibri"/>
                <a:cs typeface="Calibri"/>
              </a:rPr>
              <a:t>Environment:</a:t>
            </a:r>
            <a:endParaRPr sz="1700" dirty="0">
              <a:latin typeface="Calibri"/>
              <a:cs typeface="Calibri"/>
            </a:endParaRPr>
          </a:p>
          <a:p>
            <a:pPr marL="393700">
              <a:lnSpc>
                <a:spcPct val="100000"/>
              </a:lnSpc>
              <a:spcBef>
                <a:spcPts val="415"/>
              </a:spcBef>
            </a:pPr>
            <a:r>
              <a:rPr sz="1500" dirty="0">
                <a:latin typeface="Calibri"/>
                <a:cs typeface="Calibri"/>
              </a:rPr>
              <a:t>Arduino</a:t>
            </a:r>
            <a:r>
              <a:rPr sz="1500" spc="50" dirty="0">
                <a:latin typeface="Calibri"/>
                <a:cs typeface="Calibri"/>
              </a:rPr>
              <a:t> </a:t>
            </a:r>
            <a:r>
              <a:rPr sz="1500" spc="45" dirty="0">
                <a:latin typeface="Calibri"/>
                <a:cs typeface="Calibri"/>
              </a:rPr>
              <a:t>IDE</a:t>
            </a:r>
            <a:endParaRPr sz="1500" dirty="0">
              <a:latin typeface="Calibri"/>
              <a:cs typeface="Calibri"/>
            </a:endParaRPr>
          </a:p>
          <a:p>
            <a:pPr marL="317500">
              <a:lnSpc>
                <a:spcPct val="100000"/>
              </a:lnSpc>
              <a:spcBef>
                <a:spcPts val="530"/>
              </a:spcBef>
            </a:pPr>
            <a:r>
              <a:rPr sz="1500" spc="70" dirty="0">
                <a:latin typeface="Calibri"/>
                <a:cs typeface="Calibri"/>
              </a:rPr>
              <a:t>(C/C++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language).</a:t>
            </a:r>
            <a:endParaRPr sz="1500" dirty="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3200" y="990600"/>
            <a:ext cx="2438400" cy="18573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0" y="2299571"/>
            <a:ext cx="2457450" cy="248602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53200" y="3346683"/>
            <a:ext cx="2133600" cy="18764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226005"/>
            <a:ext cx="4677728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-10" dirty="0"/>
              <a:t>Implementation</a:t>
            </a:r>
            <a:endParaRPr sz="4800" dirty="0"/>
          </a:p>
        </p:txBody>
      </p:sp>
      <p:sp>
        <p:nvSpPr>
          <p:cNvPr id="3" name="object 3"/>
          <p:cNvSpPr txBox="1"/>
          <p:nvPr/>
        </p:nvSpPr>
        <p:spPr>
          <a:xfrm>
            <a:off x="422593" y="1114446"/>
            <a:ext cx="5029200" cy="97980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850" b="1" dirty="0">
                <a:latin typeface="Calibri"/>
                <a:cs typeface="Calibri"/>
              </a:rPr>
              <a:t>(I):</a:t>
            </a:r>
            <a:r>
              <a:rPr sz="1850" b="1" spc="-55" dirty="0">
                <a:latin typeface="Calibri"/>
                <a:cs typeface="Calibri"/>
              </a:rPr>
              <a:t> </a:t>
            </a:r>
            <a:r>
              <a:rPr sz="1850" b="1" spc="90" dirty="0">
                <a:latin typeface="Calibri"/>
                <a:cs typeface="Calibri"/>
              </a:rPr>
              <a:t>Interfacing</a:t>
            </a:r>
            <a:r>
              <a:rPr sz="1850" b="1" spc="75" dirty="0">
                <a:latin typeface="Calibri"/>
                <a:cs typeface="Calibri"/>
              </a:rPr>
              <a:t> </a:t>
            </a:r>
            <a:r>
              <a:rPr sz="1850" b="1" spc="95" dirty="0">
                <a:latin typeface="Calibri"/>
                <a:cs typeface="Calibri"/>
              </a:rPr>
              <a:t>and</a:t>
            </a:r>
            <a:r>
              <a:rPr sz="1850" b="1" spc="5" dirty="0">
                <a:latin typeface="Calibri"/>
                <a:cs typeface="Calibri"/>
              </a:rPr>
              <a:t> </a:t>
            </a:r>
            <a:r>
              <a:rPr sz="1850" b="1" spc="100" dirty="0">
                <a:latin typeface="Calibri"/>
                <a:cs typeface="Calibri"/>
              </a:rPr>
              <a:t>Pin</a:t>
            </a:r>
            <a:r>
              <a:rPr sz="1850" b="1" spc="25" dirty="0">
                <a:latin typeface="Calibri"/>
                <a:cs typeface="Calibri"/>
              </a:rPr>
              <a:t> </a:t>
            </a:r>
            <a:r>
              <a:rPr sz="1850" b="1" spc="65" dirty="0">
                <a:latin typeface="Calibri"/>
                <a:cs typeface="Calibri"/>
              </a:rPr>
              <a:t>Mapping</a:t>
            </a:r>
            <a:endParaRPr sz="18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700" b="1" spc="65" dirty="0">
                <a:latin typeface="Calibri"/>
                <a:cs typeface="Calibri"/>
              </a:rPr>
              <a:t>Hardware</a:t>
            </a:r>
            <a:r>
              <a:rPr sz="1700" b="1" spc="-60" dirty="0">
                <a:latin typeface="Calibri"/>
                <a:cs typeface="Calibri"/>
              </a:rPr>
              <a:t> </a:t>
            </a:r>
            <a:r>
              <a:rPr sz="1700" b="1" spc="70" dirty="0">
                <a:latin typeface="Calibri"/>
                <a:cs typeface="Calibri"/>
              </a:rPr>
              <a:t>Interfacing</a:t>
            </a:r>
            <a:r>
              <a:rPr sz="1700" b="1" spc="-50" dirty="0">
                <a:latin typeface="Calibri"/>
                <a:cs typeface="Calibri"/>
              </a:rPr>
              <a:t> </a:t>
            </a:r>
            <a:r>
              <a:rPr sz="1700" b="1" spc="85" dirty="0">
                <a:latin typeface="Calibri"/>
                <a:cs typeface="Calibri"/>
              </a:rPr>
              <a:t>and</a:t>
            </a:r>
            <a:r>
              <a:rPr sz="1700" b="1" spc="-35" dirty="0">
                <a:latin typeface="Calibri"/>
                <a:cs typeface="Calibri"/>
              </a:rPr>
              <a:t> </a:t>
            </a:r>
            <a:r>
              <a:rPr sz="1700" b="1" spc="85" dirty="0">
                <a:latin typeface="Calibri"/>
                <a:cs typeface="Calibri"/>
              </a:rPr>
              <a:t>Component</a:t>
            </a:r>
            <a:r>
              <a:rPr sz="1700" b="1" spc="-10" dirty="0">
                <a:latin typeface="Calibri"/>
                <a:cs typeface="Calibri"/>
              </a:rPr>
              <a:t> </a:t>
            </a:r>
            <a:r>
              <a:rPr sz="1700" b="1" spc="95" dirty="0">
                <a:latin typeface="Calibri"/>
                <a:cs typeface="Calibri"/>
              </a:rPr>
              <a:t>Connections</a:t>
            </a:r>
            <a:endParaRPr sz="17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65"/>
              </a:spcBef>
              <a:buFont typeface="Wingdings"/>
              <a:buChar char=""/>
              <a:tabLst>
                <a:tab pos="240665" algn="l"/>
              </a:tabLst>
            </a:pPr>
            <a:r>
              <a:rPr sz="1700" b="1" spc="80" dirty="0">
                <a:latin typeface="Calibri"/>
                <a:cs typeface="Calibri"/>
              </a:rPr>
              <a:t>Detection</a:t>
            </a:r>
            <a:r>
              <a:rPr sz="1700" b="1" spc="-10" dirty="0">
                <a:latin typeface="Calibri"/>
                <a:cs typeface="Calibri"/>
              </a:rPr>
              <a:t> </a:t>
            </a:r>
            <a:r>
              <a:rPr sz="1700" b="1" spc="85" dirty="0">
                <a:latin typeface="Calibri"/>
                <a:cs typeface="Calibri"/>
              </a:rPr>
              <a:t>Subsystem: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525" y="2068560"/>
            <a:ext cx="500697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75" dirty="0">
                <a:latin typeface="Calibri"/>
                <a:cs typeface="Calibri"/>
              </a:rPr>
              <a:t>Flame</a:t>
            </a:r>
            <a:r>
              <a:rPr sz="1700" spc="65" dirty="0">
                <a:latin typeface="Calibri"/>
                <a:cs typeface="Calibri"/>
              </a:rPr>
              <a:t> </a:t>
            </a:r>
            <a:r>
              <a:rPr sz="1700" spc="75" dirty="0">
                <a:latin typeface="Calibri"/>
                <a:cs typeface="Calibri"/>
              </a:rPr>
              <a:t>Sensor</a:t>
            </a:r>
            <a:r>
              <a:rPr sz="1700" spc="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(AO)</a:t>
            </a:r>
            <a:r>
              <a:rPr sz="1700" spc="4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Arduino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A0</a:t>
            </a:r>
            <a:r>
              <a:rPr sz="1700" spc="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(For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intensity</a:t>
            </a:r>
            <a:r>
              <a:rPr sz="1700" spc="4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readings,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8182" y="2315667"/>
            <a:ext cx="119507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-35" dirty="0">
                <a:latin typeface="Calibri"/>
                <a:cs typeface="Calibri"/>
              </a:rPr>
              <a:t>0-</a:t>
            </a:r>
            <a:r>
              <a:rPr sz="1700" spc="50" dirty="0">
                <a:latin typeface="Calibri"/>
                <a:cs typeface="Calibri"/>
              </a:rPr>
              <a:t>1023</a:t>
            </a:r>
            <a:r>
              <a:rPr sz="1700" spc="-90" dirty="0">
                <a:latin typeface="Calibri"/>
                <a:cs typeface="Calibri"/>
              </a:rPr>
              <a:t> </a:t>
            </a:r>
            <a:r>
              <a:rPr sz="1700" spc="75" dirty="0">
                <a:latin typeface="Calibri"/>
                <a:cs typeface="Calibri"/>
              </a:rPr>
              <a:t>ADC)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2593" y="2590381"/>
            <a:ext cx="5084445" cy="2181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8765" marR="5080">
              <a:lnSpc>
                <a:spcPct val="117800"/>
              </a:lnSpc>
              <a:spcBef>
                <a:spcPts val="95"/>
              </a:spcBef>
            </a:pPr>
            <a:r>
              <a:rPr sz="1700" dirty="0">
                <a:latin typeface="Calibri"/>
                <a:cs typeface="Calibri"/>
              </a:rPr>
              <a:t>MQ-</a:t>
            </a:r>
            <a:r>
              <a:rPr sz="1700" spc="50" dirty="0">
                <a:latin typeface="Calibri"/>
                <a:cs typeface="Calibri"/>
              </a:rPr>
              <a:t>2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75" dirty="0">
                <a:latin typeface="Calibri"/>
                <a:cs typeface="Calibri"/>
              </a:rPr>
              <a:t>Sensor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(AO</a:t>
            </a:r>
            <a:r>
              <a:rPr sz="1700" spc="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Arduino</a:t>
            </a:r>
            <a:r>
              <a:rPr sz="1700" spc="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A1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(For</a:t>
            </a:r>
            <a:r>
              <a:rPr sz="1700" spc="60" dirty="0">
                <a:latin typeface="Calibri"/>
                <a:cs typeface="Calibri"/>
              </a:rPr>
              <a:t> </a:t>
            </a:r>
            <a:r>
              <a:rPr sz="1700" spc="65" dirty="0">
                <a:latin typeface="Calibri"/>
                <a:cs typeface="Calibri"/>
              </a:rPr>
              <a:t>gas</a:t>
            </a:r>
            <a:r>
              <a:rPr sz="1700" spc="2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concentration readings).</a:t>
            </a:r>
            <a:endParaRPr sz="17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39"/>
              </a:spcBef>
              <a:buFont typeface="Wingdings"/>
              <a:buChar char=""/>
              <a:tabLst>
                <a:tab pos="355600" algn="l"/>
              </a:tabLst>
            </a:pPr>
            <a:r>
              <a:rPr sz="1700" b="1" spc="50" dirty="0">
                <a:latin typeface="Calibri"/>
                <a:cs typeface="Calibri"/>
              </a:rPr>
              <a:t>Alert</a:t>
            </a:r>
            <a:r>
              <a:rPr sz="1700" b="1" spc="-90" dirty="0">
                <a:latin typeface="Calibri"/>
                <a:cs typeface="Calibri"/>
              </a:rPr>
              <a:t> </a:t>
            </a:r>
            <a:r>
              <a:rPr sz="1700" b="1" spc="90" dirty="0">
                <a:latin typeface="Calibri"/>
                <a:cs typeface="Calibri"/>
              </a:rPr>
              <a:t>Subsystem:</a:t>
            </a:r>
            <a:endParaRPr sz="1700" dirty="0">
              <a:latin typeface="Calibri"/>
              <a:cs typeface="Calibri"/>
            </a:endParaRPr>
          </a:p>
          <a:p>
            <a:pPr marL="368300">
              <a:lnSpc>
                <a:spcPct val="100000"/>
              </a:lnSpc>
              <a:spcBef>
                <a:spcPts val="360"/>
              </a:spcBef>
            </a:pPr>
            <a:r>
              <a:rPr sz="1700" dirty="0">
                <a:latin typeface="Calibri"/>
                <a:cs typeface="Calibri"/>
              </a:rPr>
              <a:t>5V</a:t>
            </a:r>
            <a:r>
              <a:rPr sz="1700" spc="9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Buzzer</a:t>
            </a:r>
            <a:r>
              <a:rPr sz="1700" spc="8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(+)Arduino</a:t>
            </a:r>
            <a:r>
              <a:rPr sz="1700" spc="75" dirty="0">
                <a:latin typeface="Calibri"/>
                <a:cs typeface="Calibri"/>
              </a:rPr>
              <a:t> </a:t>
            </a:r>
            <a:r>
              <a:rPr sz="1700" spc="50" dirty="0">
                <a:latin typeface="Calibri"/>
                <a:cs typeface="Calibri"/>
              </a:rPr>
              <a:t>D8.</a:t>
            </a:r>
            <a:r>
              <a:rPr sz="1700" spc="190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[11]</a:t>
            </a:r>
            <a:endParaRPr sz="1700" dirty="0">
              <a:latin typeface="Calibri"/>
              <a:cs typeface="Calibri"/>
            </a:endParaRPr>
          </a:p>
          <a:p>
            <a:pPr marL="368300">
              <a:lnSpc>
                <a:spcPct val="100000"/>
              </a:lnSpc>
              <a:spcBef>
                <a:spcPts val="440"/>
              </a:spcBef>
            </a:pPr>
            <a:r>
              <a:rPr sz="1700" spc="20" dirty="0">
                <a:latin typeface="Calibri"/>
                <a:cs typeface="Calibri"/>
              </a:rPr>
              <a:t>SIM900</a:t>
            </a:r>
            <a:r>
              <a:rPr sz="1700" spc="60" dirty="0">
                <a:latin typeface="Calibri"/>
                <a:cs typeface="Calibri"/>
              </a:rPr>
              <a:t> </a:t>
            </a:r>
            <a:r>
              <a:rPr sz="1700" spc="20" dirty="0">
                <a:latin typeface="Calibri"/>
                <a:cs typeface="Calibri"/>
              </a:rPr>
              <a:t>TXD</a:t>
            </a:r>
            <a:r>
              <a:rPr sz="1700" spc="15" dirty="0">
                <a:latin typeface="Calibri"/>
                <a:cs typeface="Calibri"/>
              </a:rPr>
              <a:t> </a:t>
            </a:r>
            <a:r>
              <a:rPr sz="1700" spc="20" dirty="0">
                <a:latin typeface="Calibri"/>
                <a:cs typeface="Calibri"/>
              </a:rPr>
              <a:t>Arduino</a:t>
            </a:r>
            <a:r>
              <a:rPr sz="1700" spc="25" dirty="0">
                <a:latin typeface="Calibri"/>
                <a:cs typeface="Calibri"/>
              </a:rPr>
              <a:t> </a:t>
            </a:r>
            <a:r>
              <a:rPr sz="1700" spc="70" dirty="0">
                <a:latin typeface="Calibri"/>
                <a:cs typeface="Calibri"/>
              </a:rPr>
              <a:t>D10</a:t>
            </a:r>
            <a:r>
              <a:rPr sz="1700" spc="65" dirty="0">
                <a:latin typeface="Calibri"/>
                <a:cs typeface="Calibri"/>
              </a:rPr>
              <a:t> </a:t>
            </a:r>
            <a:r>
              <a:rPr sz="1700" spc="20" dirty="0">
                <a:latin typeface="Calibri"/>
                <a:cs typeface="Calibri"/>
              </a:rPr>
              <a:t>(SoftwareSerial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20" dirty="0">
                <a:latin typeface="Calibri"/>
                <a:cs typeface="Calibri"/>
              </a:rPr>
              <a:t>RX).</a:t>
            </a:r>
            <a:r>
              <a:rPr sz="1700" spc="4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[2]</a:t>
            </a:r>
            <a:endParaRPr sz="1700" dirty="0">
              <a:latin typeface="Calibri"/>
              <a:cs typeface="Calibri"/>
            </a:endParaRPr>
          </a:p>
          <a:p>
            <a:pPr marL="368300">
              <a:lnSpc>
                <a:spcPct val="100000"/>
              </a:lnSpc>
              <a:spcBef>
                <a:spcPts val="365"/>
              </a:spcBef>
            </a:pPr>
            <a:r>
              <a:rPr sz="1700" spc="20" dirty="0">
                <a:latin typeface="Calibri"/>
                <a:cs typeface="Calibri"/>
              </a:rPr>
              <a:t>SIM900</a:t>
            </a:r>
            <a:r>
              <a:rPr sz="1700" spc="35" dirty="0">
                <a:latin typeface="Calibri"/>
                <a:cs typeface="Calibri"/>
              </a:rPr>
              <a:t> </a:t>
            </a:r>
            <a:r>
              <a:rPr sz="1700" spc="20" dirty="0">
                <a:latin typeface="Calibri"/>
                <a:cs typeface="Calibri"/>
              </a:rPr>
              <a:t>RXDArduino</a:t>
            </a:r>
            <a:r>
              <a:rPr sz="1700" spc="35" dirty="0">
                <a:latin typeface="Calibri"/>
                <a:cs typeface="Calibri"/>
              </a:rPr>
              <a:t> </a:t>
            </a:r>
            <a:r>
              <a:rPr sz="1700" spc="70" dirty="0">
                <a:latin typeface="Calibri"/>
                <a:cs typeface="Calibri"/>
              </a:rPr>
              <a:t>D11 </a:t>
            </a:r>
            <a:r>
              <a:rPr sz="1700" spc="20" dirty="0">
                <a:latin typeface="Calibri"/>
                <a:cs typeface="Calibri"/>
              </a:rPr>
              <a:t>(SoftwareSerial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20" dirty="0">
                <a:latin typeface="Calibri"/>
                <a:cs typeface="Calibri"/>
              </a:rPr>
              <a:t>TX).</a:t>
            </a:r>
            <a:r>
              <a:rPr sz="1700" spc="14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[2]</a:t>
            </a:r>
            <a:endParaRPr sz="17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60"/>
              </a:spcBef>
              <a:buFont typeface="Wingdings"/>
              <a:buChar char=""/>
              <a:tabLst>
                <a:tab pos="240665" algn="l"/>
              </a:tabLst>
            </a:pPr>
            <a:r>
              <a:rPr sz="1700" b="1" dirty="0">
                <a:latin typeface="Calibri"/>
                <a:cs typeface="Calibri"/>
              </a:rPr>
              <a:t>Power</a:t>
            </a:r>
            <a:r>
              <a:rPr sz="1700" b="1" spc="35" dirty="0">
                <a:latin typeface="Calibri"/>
                <a:cs typeface="Calibri"/>
              </a:rPr>
              <a:t> </a:t>
            </a:r>
            <a:r>
              <a:rPr sz="1700" b="1" spc="70" dirty="0">
                <a:latin typeface="Calibri"/>
                <a:cs typeface="Calibri"/>
              </a:rPr>
              <a:t>Allocation</a:t>
            </a:r>
            <a:r>
              <a:rPr sz="1700" b="1" spc="55" dirty="0">
                <a:latin typeface="Calibri"/>
                <a:cs typeface="Calibri"/>
              </a:rPr>
              <a:t> </a:t>
            </a:r>
            <a:r>
              <a:rPr sz="1700" b="1" spc="95" dirty="0">
                <a:latin typeface="Calibri"/>
                <a:cs typeface="Calibri"/>
              </a:rPr>
              <a:t>(Crucial</a:t>
            </a:r>
            <a:r>
              <a:rPr sz="1700" b="1" spc="100" dirty="0">
                <a:latin typeface="Calibri"/>
                <a:cs typeface="Calibri"/>
              </a:rPr>
              <a:t> </a:t>
            </a:r>
            <a:r>
              <a:rPr sz="1700" b="1" spc="50" dirty="0">
                <a:latin typeface="Calibri"/>
                <a:cs typeface="Calibri"/>
              </a:rPr>
              <a:t>Separation):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8948" y="4784062"/>
            <a:ext cx="4985385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75" dirty="0">
                <a:latin typeface="Calibri"/>
                <a:cs typeface="Calibri"/>
              </a:rPr>
              <a:t>UNO’s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50" dirty="0">
                <a:latin typeface="Calibri"/>
                <a:cs typeface="Calibri"/>
              </a:rPr>
              <a:t>Regulated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5V: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Powers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spc="60" dirty="0">
                <a:latin typeface="Calibri"/>
                <a:cs typeface="Calibri"/>
              </a:rPr>
              <a:t>all</a:t>
            </a:r>
            <a:r>
              <a:rPr sz="1700" spc="55" dirty="0">
                <a:latin typeface="Calibri"/>
                <a:cs typeface="Calibri"/>
              </a:rPr>
              <a:t> </a:t>
            </a:r>
            <a:r>
              <a:rPr sz="1700" spc="75" dirty="0">
                <a:latin typeface="Calibri"/>
                <a:cs typeface="Calibri"/>
              </a:rPr>
              <a:t>sensors</a:t>
            </a:r>
            <a:r>
              <a:rPr sz="1700" spc="40" dirty="0">
                <a:latin typeface="Calibri"/>
                <a:cs typeface="Calibri"/>
              </a:rPr>
              <a:t> </a:t>
            </a:r>
            <a:r>
              <a:rPr sz="1700" spc="55" dirty="0">
                <a:latin typeface="Calibri"/>
                <a:cs typeface="Calibri"/>
              </a:rPr>
              <a:t>and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4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relay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0765" y="5044565"/>
            <a:ext cx="113538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dirty="0">
                <a:latin typeface="Calibri"/>
                <a:cs typeface="Calibri"/>
              </a:rPr>
              <a:t>control</a:t>
            </a:r>
            <a:r>
              <a:rPr sz="1700" spc="160" dirty="0">
                <a:latin typeface="Calibri"/>
                <a:cs typeface="Calibri"/>
              </a:rPr>
              <a:t> </a:t>
            </a:r>
            <a:r>
              <a:rPr sz="1700" spc="55" dirty="0">
                <a:latin typeface="Calibri"/>
                <a:cs typeface="Calibri"/>
              </a:rPr>
              <a:t>coil.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5525" y="5365940"/>
            <a:ext cx="487807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10" dirty="0">
                <a:latin typeface="Calibri"/>
                <a:cs typeface="Calibri"/>
              </a:rPr>
              <a:t>External </a:t>
            </a:r>
            <a:r>
              <a:rPr sz="1700" spc="70" dirty="0">
                <a:latin typeface="Calibri"/>
                <a:cs typeface="Calibri"/>
              </a:rPr>
              <a:t>5V</a:t>
            </a:r>
            <a:r>
              <a:rPr sz="1700" spc="65" dirty="0">
                <a:latin typeface="Calibri"/>
                <a:cs typeface="Calibri"/>
              </a:rPr>
              <a:t> </a:t>
            </a:r>
            <a:r>
              <a:rPr sz="1700" spc="80" dirty="0">
                <a:latin typeface="Calibri"/>
                <a:cs typeface="Calibri"/>
              </a:rPr>
              <a:t>AC-</a:t>
            </a:r>
            <a:r>
              <a:rPr sz="1700" spc="210" dirty="0">
                <a:latin typeface="Calibri"/>
                <a:cs typeface="Calibri"/>
              </a:rPr>
              <a:t>DC</a:t>
            </a:r>
            <a:r>
              <a:rPr sz="1700" spc="1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Adapter:</a:t>
            </a:r>
            <a:r>
              <a:rPr sz="1700" spc="55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Powers</a:t>
            </a:r>
            <a:r>
              <a:rPr sz="1700" spc="9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the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10" dirty="0">
                <a:latin typeface="Calibri"/>
                <a:cs typeface="Calibri"/>
              </a:rPr>
              <a:t>SIM900</a:t>
            </a:r>
            <a:r>
              <a:rPr sz="1700" spc="75" dirty="0">
                <a:latin typeface="Calibri"/>
                <a:cs typeface="Calibri"/>
              </a:rPr>
              <a:t> </a:t>
            </a:r>
            <a:r>
              <a:rPr sz="1700" spc="140" dirty="0">
                <a:latin typeface="Calibri"/>
                <a:cs typeface="Calibri"/>
              </a:rPr>
              <a:t>VCC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0765" y="5641656"/>
            <a:ext cx="2205945" cy="30130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4315" marR="5080" indent="-222250">
              <a:lnSpc>
                <a:spcPct val="117900"/>
              </a:lnSpc>
              <a:spcBef>
                <a:spcPts val="95"/>
              </a:spcBef>
            </a:pPr>
            <a:r>
              <a:rPr sz="1700" spc="75" dirty="0">
                <a:latin typeface="Calibri"/>
                <a:cs typeface="Calibri"/>
              </a:rPr>
              <a:t>and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spc="70" dirty="0">
                <a:latin typeface="Calibri"/>
                <a:cs typeface="Calibri"/>
              </a:rPr>
              <a:t>5V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spc="145" dirty="0">
                <a:latin typeface="Calibri"/>
                <a:cs typeface="Calibri"/>
              </a:rPr>
              <a:t>DC</a:t>
            </a:r>
            <a:r>
              <a:rPr lang="en-US" sz="1700" spc="14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Pump.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10375" y="822200"/>
            <a:ext cx="4086860" cy="67437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850" b="1" dirty="0">
                <a:latin typeface="Calibri"/>
                <a:cs typeface="Calibri"/>
              </a:rPr>
              <a:t>(II):</a:t>
            </a:r>
            <a:r>
              <a:rPr sz="1850" b="1" spc="50" dirty="0">
                <a:latin typeface="Calibri"/>
                <a:cs typeface="Calibri"/>
              </a:rPr>
              <a:t> </a:t>
            </a:r>
            <a:r>
              <a:rPr sz="1850" b="1" spc="125" dirty="0">
                <a:latin typeface="Calibri"/>
                <a:cs typeface="Calibri"/>
              </a:rPr>
              <a:t>Suppression</a:t>
            </a:r>
            <a:r>
              <a:rPr sz="1850" b="1" spc="50" dirty="0">
                <a:latin typeface="Calibri"/>
                <a:cs typeface="Calibri"/>
              </a:rPr>
              <a:t> </a:t>
            </a:r>
            <a:r>
              <a:rPr sz="1850" b="1" spc="95" dirty="0">
                <a:latin typeface="Calibri"/>
                <a:cs typeface="Calibri"/>
              </a:rPr>
              <a:t>and</a:t>
            </a:r>
            <a:r>
              <a:rPr sz="1850" b="1" spc="35" dirty="0">
                <a:latin typeface="Calibri"/>
                <a:cs typeface="Calibri"/>
              </a:rPr>
              <a:t> </a:t>
            </a:r>
            <a:r>
              <a:rPr sz="1850" b="1" spc="95" dirty="0">
                <a:latin typeface="Calibri"/>
                <a:cs typeface="Calibri"/>
              </a:rPr>
              <a:t>Safety</a:t>
            </a:r>
            <a:endParaRPr sz="18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700" b="1" spc="95" dirty="0">
                <a:latin typeface="Calibri"/>
                <a:cs typeface="Calibri"/>
              </a:rPr>
              <a:t>Suppression</a:t>
            </a:r>
            <a:r>
              <a:rPr sz="1700" b="1" spc="-20" dirty="0">
                <a:latin typeface="Calibri"/>
                <a:cs typeface="Calibri"/>
              </a:rPr>
              <a:t> </a:t>
            </a:r>
            <a:r>
              <a:rPr sz="1700" b="1" spc="95" dirty="0">
                <a:latin typeface="Calibri"/>
                <a:cs typeface="Calibri"/>
              </a:rPr>
              <a:t>Circuit</a:t>
            </a:r>
            <a:r>
              <a:rPr sz="1700" b="1" spc="-10" dirty="0">
                <a:latin typeface="Calibri"/>
                <a:cs typeface="Calibri"/>
              </a:rPr>
              <a:t> </a:t>
            </a:r>
            <a:r>
              <a:rPr sz="1700" b="1" spc="95" dirty="0">
                <a:latin typeface="Calibri"/>
                <a:cs typeface="Calibri"/>
              </a:rPr>
              <a:t>Design</a:t>
            </a:r>
            <a:r>
              <a:rPr sz="1700" b="1" spc="-90" dirty="0">
                <a:latin typeface="Calibri"/>
                <a:cs typeface="Calibri"/>
              </a:rPr>
              <a:t> </a:t>
            </a:r>
            <a:r>
              <a:rPr sz="1700" b="1" spc="85" dirty="0">
                <a:latin typeface="Calibri"/>
                <a:cs typeface="Calibri"/>
              </a:rPr>
              <a:t>and</a:t>
            </a:r>
            <a:r>
              <a:rPr sz="1700" b="1" spc="-30" dirty="0">
                <a:latin typeface="Calibri"/>
                <a:cs typeface="Calibri"/>
              </a:rPr>
              <a:t> </a:t>
            </a:r>
            <a:r>
              <a:rPr sz="1700" b="1" spc="85" dirty="0">
                <a:latin typeface="Calibri"/>
                <a:cs typeface="Calibri"/>
              </a:rPr>
              <a:t>Electrical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10375" y="1388681"/>
            <a:ext cx="104838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spc="50" dirty="0">
                <a:latin typeface="Calibri"/>
                <a:cs typeface="Calibri"/>
              </a:rPr>
              <a:t>Protectio</a:t>
            </a:r>
            <a:r>
              <a:rPr sz="1700" spc="50" dirty="0">
                <a:latin typeface="Calibri"/>
                <a:cs typeface="Calibri"/>
              </a:rPr>
              <a:t>n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10375" y="1693862"/>
            <a:ext cx="453771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25"/>
              </a:spcBef>
              <a:buFont typeface="Wingdings"/>
              <a:buChar char=""/>
              <a:tabLst>
                <a:tab pos="241300" algn="l"/>
              </a:tabLst>
            </a:pPr>
            <a:r>
              <a:rPr sz="1700" b="1" spc="80" dirty="0">
                <a:latin typeface="Calibri"/>
                <a:cs typeface="Calibri"/>
              </a:rPr>
              <a:t>Relay</a:t>
            </a:r>
            <a:r>
              <a:rPr sz="1700" b="1" spc="45" dirty="0">
                <a:latin typeface="Calibri"/>
                <a:cs typeface="Calibri"/>
              </a:rPr>
              <a:t> </a:t>
            </a:r>
            <a:r>
              <a:rPr sz="1700" b="1" spc="50" dirty="0">
                <a:latin typeface="Calibri"/>
                <a:cs typeface="Calibri"/>
              </a:rPr>
              <a:t>Operation</a:t>
            </a:r>
            <a:r>
              <a:rPr sz="1700" spc="50" dirty="0">
                <a:latin typeface="Calibri"/>
                <a:cs typeface="Calibri"/>
              </a:rPr>
              <a:t>:</a:t>
            </a:r>
            <a:r>
              <a:rPr sz="1700" spc="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Digital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pin</a:t>
            </a:r>
            <a:r>
              <a:rPr sz="1700" spc="20" dirty="0">
                <a:latin typeface="Calibri"/>
                <a:cs typeface="Calibri"/>
              </a:rPr>
              <a:t> </a:t>
            </a:r>
            <a:r>
              <a:rPr sz="1700" spc="95" dirty="0">
                <a:latin typeface="Calibri"/>
                <a:cs typeface="Calibri"/>
              </a:rPr>
              <a:t>D7</a:t>
            </a:r>
            <a:r>
              <a:rPr sz="1700" spc="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triggers</a:t>
            </a:r>
            <a:r>
              <a:rPr sz="1700" spc="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75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5V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39356" y="1875091"/>
            <a:ext cx="377317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50" dirty="0">
                <a:latin typeface="Calibri"/>
                <a:cs typeface="Calibri"/>
              </a:rPr>
              <a:t>Relay's</a:t>
            </a:r>
            <a:r>
              <a:rPr sz="1700" spc="1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control</a:t>
            </a:r>
            <a:r>
              <a:rPr sz="1700" spc="35" dirty="0">
                <a:latin typeface="Calibri"/>
                <a:cs typeface="Calibri"/>
              </a:rPr>
              <a:t> </a:t>
            </a:r>
            <a:r>
              <a:rPr sz="1700" spc="65" dirty="0">
                <a:latin typeface="Calibri"/>
                <a:cs typeface="Calibri"/>
              </a:rPr>
              <a:t>coil</a:t>
            </a:r>
            <a:r>
              <a:rPr sz="1700" spc="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(low</a:t>
            </a:r>
            <a:r>
              <a:rPr sz="1700" spc="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current</a:t>
            </a:r>
            <a:r>
              <a:rPr sz="1700" spc="1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side).</a:t>
            </a:r>
            <a:r>
              <a:rPr sz="1700" spc="85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[2]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10375" y="2189797"/>
            <a:ext cx="436435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25"/>
              </a:spcBef>
              <a:buFont typeface="Wingdings"/>
              <a:buChar char=""/>
              <a:tabLst>
                <a:tab pos="241300" algn="l"/>
              </a:tabLst>
            </a:pPr>
            <a:r>
              <a:rPr sz="1700" b="1" spc="95" dirty="0">
                <a:latin typeface="Calibri"/>
                <a:cs typeface="Calibri"/>
              </a:rPr>
              <a:t>Pump</a:t>
            </a:r>
            <a:r>
              <a:rPr sz="1700" b="1" spc="40" dirty="0">
                <a:latin typeface="Calibri"/>
                <a:cs typeface="Calibri"/>
              </a:rPr>
              <a:t> </a:t>
            </a:r>
            <a:r>
              <a:rPr sz="1700" b="1" spc="90" dirty="0">
                <a:latin typeface="Calibri"/>
                <a:cs typeface="Calibri"/>
              </a:rPr>
              <a:t>Load</a:t>
            </a:r>
            <a:r>
              <a:rPr sz="1700" b="1" spc="40" dirty="0">
                <a:latin typeface="Calibri"/>
                <a:cs typeface="Calibri"/>
              </a:rPr>
              <a:t> </a:t>
            </a:r>
            <a:r>
              <a:rPr sz="1700" b="1" spc="90" dirty="0">
                <a:latin typeface="Calibri"/>
                <a:cs typeface="Calibri"/>
              </a:rPr>
              <a:t>Circuit:</a:t>
            </a:r>
            <a:r>
              <a:rPr sz="1700" b="1" spc="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high-current</a:t>
            </a:r>
            <a:r>
              <a:rPr sz="1700" spc="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path</a:t>
            </a:r>
            <a:r>
              <a:rPr sz="1700" spc="120" dirty="0">
                <a:latin typeface="Calibri"/>
                <a:cs typeface="Calibri"/>
              </a:rPr>
              <a:t> </a:t>
            </a:r>
            <a:r>
              <a:rPr sz="1700" spc="50" dirty="0">
                <a:latin typeface="Calibri"/>
                <a:cs typeface="Calibri"/>
              </a:rPr>
              <a:t>is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39356" y="2371026"/>
            <a:ext cx="4021454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dirty="0">
                <a:latin typeface="Calibri"/>
                <a:cs typeface="Calibri"/>
              </a:rPr>
              <a:t>isolated:</a:t>
            </a:r>
            <a:r>
              <a:rPr sz="1700" spc="2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External</a:t>
            </a:r>
            <a:r>
              <a:rPr sz="1700" spc="1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5V</a:t>
            </a:r>
            <a:r>
              <a:rPr sz="1700" spc="110" dirty="0">
                <a:latin typeface="Calibri"/>
                <a:cs typeface="Calibri"/>
              </a:rPr>
              <a:t> </a:t>
            </a:r>
            <a:r>
              <a:rPr sz="1700" spc="105" dirty="0">
                <a:latin typeface="Calibri"/>
                <a:cs typeface="Calibri"/>
              </a:rPr>
              <a:t>AC-</a:t>
            </a:r>
            <a:r>
              <a:rPr sz="1700" spc="90" dirty="0">
                <a:latin typeface="Calibri"/>
                <a:cs typeface="Calibri"/>
              </a:rPr>
              <a:t>DCRelay</a:t>
            </a:r>
            <a:r>
              <a:rPr sz="1700" spc="7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Normally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39356" y="2552382"/>
            <a:ext cx="413194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60" dirty="0">
                <a:latin typeface="Calibri"/>
                <a:cs typeface="Calibri"/>
              </a:rPr>
              <a:t>Open</a:t>
            </a:r>
            <a:r>
              <a:rPr sz="1700" spc="9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(NO)</a:t>
            </a:r>
            <a:r>
              <a:rPr sz="1700" spc="4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5V</a:t>
            </a:r>
            <a:r>
              <a:rPr sz="1700" spc="25" dirty="0">
                <a:latin typeface="Calibri"/>
                <a:cs typeface="Calibri"/>
              </a:rPr>
              <a:t> </a:t>
            </a:r>
            <a:r>
              <a:rPr sz="1700" spc="210" dirty="0">
                <a:latin typeface="Calibri"/>
                <a:cs typeface="Calibri"/>
              </a:rPr>
              <a:t>DC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55" dirty="0">
                <a:latin typeface="Calibri"/>
                <a:cs typeface="Calibri"/>
              </a:rPr>
              <a:t>Pump</a:t>
            </a:r>
            <a:r>
              <a:rPr sz="1700" spc="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.External</a:t>
            </a:r>
            <a:r>
              <a:rPr sz="1700" spc="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5V</a:t>
            </a:r>
            <a:r>
              <a:rPr sz="1700" spc="30" dirty="0">
                <a:latin typeface="Calibri"/>
                <a:cs typeface="Calibri"/>
              </a:rPr>
              <a:t> </a:t>
            </a:r>
            <a:r>
              <a:rPr sz="1700" spc="95" dirty="0">
                <a:latin typeface="Calibri"/>
                <a:cs typeface="Calibri"/>
              </a:rPr>
              <a:t>AC-</a:t>
            </a:r>
            <a:r>
              <a:rPr sz="1700" spc="180" dirty="0">
                <a:latin typeface="Calibri"/>
                <a:cs typeface="Calibri"/>
              </a:rPr>
              <a:t>DC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10375" y="2692016"/>
            <a:ext cx="4391660" cy="950594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455"/>
              </a:spcBef>
            </a:pPr>
            <a:r>
              <a:rPr sz="1700" dirty="0">
                <a:latin typeface="Calibri"/>
                <a:cs typeface="Calibri"/>
              </a:rPr>
              <a:t>Ground</a:t>
            </a:r>
            <a:r>
              <a:rPr sz="1700" spc="2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(-</a:t>
            </a:r>
            <a:r>
              <a:rPr sz="1700" spc="-25" dirty="0">
                <a:latin typeface="Calibri"/>
                <a:cs typeface="Calibri"/>
              </a:rPr>
              <a:t>).</a:t>
            </a:r>
            <a:endParaRPr sz="17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60"/>
              </a:spcBef>
              <a:buFont typeface="Wingdings"/>
              <a:buChar char=""/>
              <a:tabLst>
                <a:tab pos="241300" algn="l"/>
              </a:tabLst>
            </a:pPr>
            <a:r>
              <a:rPr sz="1700" b="1" spc="95" dirty="0">
                <a:latin typeface="Calibri"/>
                <a:cs typeface="Calibri"/>
              </a:rPr>
              <a:t>Critical</a:t>
            </a:r>
            <a:r>
              <a:rPr sz="1700" b="1" spc="-60" dirty="0">
                <a:latin typeface="Calibri"/>
                <a:cs typeface="Calibri"/>
              </a:rPr>
              <a:t> </a:t>
            </a:r>
            <a:r>
              <a:rPr sz="1700" b="1" spc="85" dirty="0">
                <a:latin typeface="Calibri"/>
                <a:cs typeface="Calibri"/>
              </a:rPr>
              <a:t>Safety</a:t>
            </a:r>
            <a:r>
              <a:rPr sz="1700" b="1" spc="-95" dirty="0">
                <a:latin typeface="Calibri"/>
                <a:cs typeface="Calibri"/>
              </a:rPr>
              <a:t> </a:t>
            </a:r>
            <a:r>
              <a:rPr sz="1700" b="1" spc="70" dirty="0">
                <a:latin typeface="Calibri"/>
                <a:cs typeface="Calibri"/>
              </a:rPr>
              <a:t>Feature</a:t>
            </a:r>
            <a:r>
              <a:rPr sz="1700" spc="70" dirty="0">
                <a:latin typeface="Calibri"/>
                <a:cs typeface="Calibri"/>
              </a:rPr>
              <a:t>: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75" dirty="0">
                <a:latin typeface="Calibri"/>
                <a:cs typeface="Calibri"/>
              </a:rPr>
              <a:t>Flyback</a:t>
            </a:r>
            <a:r>
              <a:rPr sz="1700" spc="-9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Diode:</a:t>
            </a:r>
            <a:endParaRPr sz="1700" dirty="0">
              <a:latin typeface="Calibri"/>
              <a:cs typeface="Calibri"/>
            </a:endParaRPr>
          </a:p>
          <a:p>
            <a:pPr marL="279400">
              <a:lnSpc>
                <a:spcPct val="100000"/>
              </a:lnSpc>
              <a:spcBef>
                <a:spcPts val="440"/>
              </a:spcBef>
            </a:pPr>
            <a:r>
              <a:rPr sz="1700" dirty="0">
                <a:latin typeface="Calibri"/>
                <a:cs typeface="Calibri"/>
              </a:rPr>
              <a:t>A</a:t>
            </a:r>
            <a:r>
              <a:rPr sz="1700" spc="60" dirty="0">
                <a:latin typeface="Calibri"/>
                <a:cs typeface="Calibri"/>
              </a:rPr>
              <a:t> </a:t>
            </a:r>
            <a:r>
              <a:rPr sz="1700" spc="50" dirty="0">
                <a:latin typeface="Calibri"/>
                <a:cs typeface="Calibri"/>
              </a:rPr>
              <a:t>1N4007</a:t>
            </a:r>
            <a:r>
              <a:rPr sz="1700" spc="8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(or</a:t>
            </a:r>
            <a:r>
              <a:rPr sz="1700" spc="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similar)</a:t>
            </a:r>
            <a:r>
              <a:rPr sz="1700" spc="1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diode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110" dirty="0">
                <a:latin typeface="Calibri"/>
                <a:cs typeface="Calibri"/>
              </a:rPr>
              <a:t>is</a:t>
            </a:r>
            <a:r>
              <a:rPr sz="1700" dirty="0">
                <a:latin typeface="Calibri"/>
                <a:cs typeface="Calibri"/>
              </a:rPr>
              <a:t> mandatory.</a:t>
            </a:r>
            <a:r>
              <a:rPr sz="1700" spc="55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[4]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57345" y="3823903"/>
            <a:ext cx="118364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70" dirty="0">
                <a:latin typeface="Calibri"/>
                <a:cs typeface="Calibri"/>
              </a:rPr>
              <a:t>pump</a:t>
            </a:r>
            <a:r>
              <a:rPr sz="1700" spc="-75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motor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98444" y="3613332"/>
            <a:ext cx="4773549" cy="71006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9900"/>
              </a:lnSpc>
              <a:spcBef>
                <a:spcPts val="90"/>
              </a:spcBef>
            </a:pPr>
            <a:r>
              <a:rPr sz="1700" dirty="0">
                <a:latin typeface="Calibri"/>
                <a:cs typeface="Calibri"/>
              </a:rPr>
              <a:t>It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65" dirty="0">
                <a:latin typeface="Calibri"/>
                <a:cs typeface="Calibri"/>
              </a:rPr>
              <a:t>must</a:t>
            </a:r>
            <a:r>
              <a:rPr sz="1700" dirty="0">
                <a:latin typeface="Calibri"/>
                <a:cs typeface="Calibri"/>
              </a:rPr>
              <a:t> be</a:t>
            </a:r>
            <a:r>
              <a:rPr sz="1700" spc="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wired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55" dirty="0">
                <a:latin typeface="Calibri"/>
                <a:cs typeface="Calibri"/>
              </a:rPr>
              <a:t>in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reverse</a:t>
            </a:r>
            <a:r>
              <a:rPr sz="1700" spc="20" dirty="0">
                <a:latin typeface="Calibri"/>
                <a:cs typeface="Calibri"/>
              </a:rPr>
              <a:t> </a:t>
            </a:r>
            <a:r>
              <a:rPr sz="1700" spc="75" dirty="0">
                <a:latin typeface="Calibri"/>
                <a:cs typeface="Calibri"/>
              </a:rPr>
              <a:t>bias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spc="95" dirty="0">
                <a:latin typeface="Calibri"/>
                <a:cs typeface="Calibri"/>
              </a:rPr>
              <a:t>across</a:t>
            </a:r>
            <a:r>
              <a:rPr sz="1700" spc="2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the </a:t>
            </a:r>
            <a:r>
              <a:rPr sz="1700" spc="45" dirty="0">
                <a:latin typeface="Calibri"/>
                <a:cs typeface="Calibri"/>
              </a:rPr>
              <a:t>terminals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45" dirty="0">
                <a:latin typeface="Calibri"/>
                <a:cs typeface="Calibri"/>
              </a:rPr>
              <a:t>(Cathode/band</a:t>
            </a:r>
            <a:r>
              <a:rPr sz="1700" spc="114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positive,</a:t>
            </a:r>
            <a:r>
              <a:rPr sz="1700" spc="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Anode </a:t>
            </a:r>
            <a:r>
              <a:rPr sz="1700" spc="-25" dirty="0">
                <a:latin typeface="Calibri"/>
                <a:cs typeface="Calibri"/>
              </a:rPr>
              <a:t>to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011670" y="4304878"/>
            <a:ext cx="92583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-10" dirty="0">
                <a:latin typeface="Calibri"/>
                <a:cs typeface="Calibri"/>
              </a:rPr>
              <a:t>negative).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11670" y="4570870"/>
            <a:ext cx="442976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50" dirty="0">
                <a:latin typeface="Calibri"/>
                <a:cs typeface="Calibri"/>
              </a:rPr>
              <a:t>Purpose:</a:t>
            </a:r>
            <a:r>
              <a:rPr sz="1700" spc="15" dirty="0">
                <a:latin typeface="Calibri"/>
                <a:cs typeface="Calibri"/>
              </a:rPr>
              <a:t> </a:t>
            </a:r>
            <a:r>
              <a:rPr sz="1700" spc="-55" dirty="0">
                <a:latin typeface="Calibri"/>
                <a:cs typeface="Calibri"/>
              </a:rPr>
              <a:t>To</a:t>
            </a:r>
            <a:r>
              <a:rPr sz="1700" spc="25" dirty="0">
                <a:latin typeface="Calibri"/>
                <a:cs typeface="Calibri"/>
              </a:rPr>
              <a:t> </a:t>
            </a:r>
            <a:r>
              <a:rPr sz="1700" spc="55" dirty="0">
                <a:latin typeface="Calibri"/>
                <a:cs typeface="Calibri"/>
              </a:rPr>
              <a:t>dissipate</a:t>
            </a:r>
            <a:r>
              <a:rPr sz="1700" spc="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high-voltage</a:t>
            </a:r>
            <a:r>
              <a:rPr sz="1700" spc="7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inductive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011670" y="4790736"/>
            <a:ext cx="425132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657985" algn="l"/>
                <a:tab pos="2390775" algn="l"/>
              </a:tabLst>
            </a:pPr>
            <a:r>
              <a:rPr sz="1700" dirty="0">
                <a:latin typeface="Calibri"/>
                <a:cs typeface="Calibri"/>
              </a:rPr>
              <a:t>spike</a:t>
            </a:r>
            <a:r>
              <a:rPr sz="1700" spc="100" dirty="0">
                <a:latin typeface="Calibri"/>
                <a:cs typeface="Calibri"/>
              </a:rPr>
              <a:t>  </a:t>
            </a:r>
            <a:r>
              <a:rPr sz="1700" spc="-10" dirty="0">
                <a:latin typeface="Calibri"/>
                <a:cs typeface="Calibri"/>
              </a:rPr>
              <a:t>generated</a:t>
            </a:r>
            <a:r>
              <a:rPr sz="1700" dirty="0">
                <a:latin typeface="Calibri"/>
                <a:cs typeface="Calibri"/>
              </a:rPr>
              <a:t>	</a:t>
            </a:r>
            <a:r>
              <a:rPr sz="1700" spc="-20" dirty="0">
                <a:latin typeface="Calibri"/>
                <a:cs typeface="Calibri"/>
              </a:rPr>
              <a:t>when</a:t>
            </a:r>
            <a:r>
              <a:rPr sz="1700" dirty="0">
                <a:latin typeface="Calibri"/>
                <a:cs typeface="Calibri"/>
              </a:rPr>
              <a:t>	the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spc="70" dirty="0">
                <a:latin typeface="Calibri"/>
                <a:cs typeface="Calibri"/>
              </a:rPr>
              <a:t>pump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(inductive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11670" y="5045746"/>
            <a:ext cx="416814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dirty="0">
                <a:latin typeface="Calibri"/>
                <a:cs typeface="Calibri"/>
              </a:rPr>
              <a:t>load)</a:t>
            </a:r>
            <a:r>
              <a:rPr sz="1700" spc="15" dirty="0">
                <a:latin typeface="Calibri"/>
                <a:cs typeface="Calibri"/>
              </a:rPr>
              <a:t> </a:t>
            </a:r>
            <a:r>
              <a:rPr sz="1700" spc="110" dirty="0">
                <a:latin typeface="Calibri"/>
                <a:cs typeface="Calibri"/>
              </a:rPr>
              <a:t>is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55" dirty="0">
                <a:latin typeface="Calibri"/>
                <a:cs typeface="Calibri"/>
              </a:rPr>
              <a:t>switched</a:t>
            </a:r>
            <a:r>
              <a:rPr sz="1700" spc="9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off,</a:t>
            </a:r>
            <a:r>
              <a:rPr sz="1700" spc="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protecting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relay</a:t>
            </a:r>
            <a:r>
              <a:rPr sz="1700" spc="50" dirty="0">
                <a:latin typeface="Calibri"/>
                <a:cs typeface="Calibri"/>
              </a:rPr>
              <a:t> </a:t>
            </a:r>
            <a:r>
              <a:rPr sz="1700" spc="25" dirty="0">
                <a:latin typeface="Calibri"/>
                <a:cs typeface="Calibri"/>
              </a:rPr>
              <a:t>and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033005" y="5279705"/>
            <a:ext cx="2331720" cy="63563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700" dirty="0">
                <a:latin typeface="Calibri"/>
                <a:cs typeface="Calibri"/>
              </a:rPr>
              <a:t>preventing</a:t>
            </a:r>
            <a:r>
              <a:rPr sz="1700" spc="50" dirty="0">
                <a:latin typeface="Calibri"/>
                <a:cs typeface="Calibri"/>
              </a:rPr>
              <a:t> </a:t>
            </a:r>
            <a:r>
              <a:rPr sz="1700" spc="60" dirty="0">
                <a:latin typeface="Calibri"/>
                <a:cs typeface="Calibri"/>
              </a:rPr>
              <a:t>system</a:t>
            </a:r>
            <a:r>
              <a:rPr sz="1700" spc="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resets</a:t>
            </a:r>
            <a:endParaRPr sz="1700" dirty="0">
              <a:latin typeface="Calibri"/>
              <a:cs typeface="Calibri"/>
            </a:endParaRPr>
          </a:p>
          <a:p>
            <a:pPr marL="234950">
              <a:lnSpc>
                <a:spcPct val="100000"/>
              </a:lnSpc>
              <a:spcBef>
                <a:spcPts val="360"/>
              </a:spcBef>
            </a:pPr>
            <a:r>
              <a:rPr sz="1700" spc="15" dirty="0">
                <a:latin typeface="Calibri"/>
                <a:cs typeface="Calibri"/>
              </a:rPr>
              <a:t>.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10375" y="5671184"/>
            <a:ext cx="457073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25"/>
              </a:spcBef>
              <a:buFont typeface="Wingdings"/>
              <a:buChar char=""/>
              <a:tabLst>
                <a:tab pos="241300" algn="l"/>
              </a:tabLst>
            </a:pPr>
            <a:r>
              <a:rPr sz="1700" spc="70" dirty="0">
                <a:latin typeface="Calibri"/>
                <a:cs typeface="Calibri"/>
              </a:rPr>
              <a:t>System</a:t>
            </a:r>
            <a:r>
              <a:rPr sz="1700" spc="1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Grounding:</a:t>
            </a:r>
            <a:r>
              <a:rPr sz="1700" spc="2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Utilize</a:t>
            </a:r>
            <a:r>
              <a:rPr sz="1700" spc="9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Ground</a:t>
            </a:r>
            <a:r>
              <a:rPr sz="1700" spc="1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Fault</a:t>
            </a:r>
            <a:r>
              <a:rPr sz="1700" spc="170" dirty="0">
                <a:latin typeface="Calibri"/>
                <a:cs typeface="Calibri"/>
              </a:rPr>
              <a:t> </a:t>
            </a:r>
            <a:r>
              <a:rPr sz="1700" spc="45" dirty="0">
                <a:latin typeface="Calibri"/>
                <a:cs typeface="Calibri"/>
              </a:rPr>
              <a:t>Circuit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39356" y="5852477"/>
            <a:ext cx="393382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dirty="0">
                <a:latin typeface="Calibri"/>
                <a:cs typeface="Calibri"/>
              </a:rPr>
              <a:t>Interrupter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75" dirty="0">
                <a:latin typeface="Calibri"/>
                <a:cs typeface="Calibri"/>
              </a:rPr>
              <a:t>(GFCI)</a:t>
            </a:r>
            <a:r>
              <a:rPr sz="1700" dirty="0">
                <a:latin typeface="Calibri"/>
                <a:cs typeface="Calibri"/>
              </a:rPr>
              <a:t> protection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for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spc="65" dirty="0">
                <a:latin typeface="Calibri"/>
                <a:cs typeface="Calibri"/>
              </a:rPr>
              <a:t>all</a:t>
            </a:r>
            <a:r>
              <a:rPr sz="1700" spc="75" dirty="0">
                <a:latin typeface="Calibri"/>
                <a:cs typeface="Calibri"/>
              </a:rPr>
              <a:t> </a:t>
            </a:r>
            <a:r>
              <a:rPr sz="1700" spc="100" dirty="0">
                <a:latin typeface="Calibri"/>
                <a:cs typeface="Calibri"/>
              </a:rPr>
              <a:t>AC-</a:t>
            </a:r>
            <a:r>
              <a:rPr sz="1700" spc="180" dirty="0">
                <a:latin typeface="Calibri"/>
                <a:cs typeface="Calibri"/>
              </a:rPr>
              <a:t>DC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039356" y="6033770"/>
            <a:ext cx="431736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50" dirty="0">
                <a:latin typeface="Calibri"/>
                <a:cs typeface="Calibri"/>
              </a:rPr>
              <a:t>adapters</a:t>
            </a:r>
            <a:r>
              <a:rPr sz="1700" spc="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due</a:t>
            </a:r>
            <a:r>
              <a:rPr sz="1700" spc="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95" dirty="0">
                <a:latin typeface="Calibri"/>
                <a:cs typeface="Calibri"/>
              </a:rPr>
              <a:t>use</a:t>
            </a:r>
            <a:r>
              <a:rPr sz="1700" spc="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liquid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50" dirty="0">
                <a:latin typeface="Calibri"/>
                <a:cs typeface="Calibri"/>
              </a:rPr>
              <a:t>and</a:t>
            </a:r>
            <a:r>
              <a:rPr sz="1700" spc="60" dirty="0">
                <a:latin typeface="Calibri"/>
                <a:cs typeface="Calibri"/>
              </a:rPr>
              <a:t> </a:t>
            </a:r>
            <a:r>
              <a:rPr sz="1700" spc="35" dirty="0">
                <a:latin typeface="Calibri"/>
                <a:cs typeface="Calibri"/>
              </a:rPr>
              <a:t>electrical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039356" y="6215062"/>
            <a:ext cx="167005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60" dirty="0">
                <a:latin typeface="Calibri"/>
                <a:cs typeface="Calibri"/>
              </a:rPr>
              <a:t>components.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[13]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362700" y="809625"/>
            <a:ext cx="4445" cy="5878195"/>
          </a:xfrm>
          <a:custGeom>
            <a:avLst/>
            <a:gdLst/>
            <a:ahLst/>
            <a:cxnLst/>
            <a:rect l="l" t="t" r="r" b="b"/>
            <a:pathLst>
              <a:path w="4445" h="5878195">
                <a:moveTo>
                  <a:pt x="0" y="0"/>
                </a:moveTo>
                <a:lnTo>
                  <a:pt x="3937" y="5878118"/>
                </a:lnTo>
              </a:path>
            </a:pathLst>
          </a:custGeom>
          <a:ln w="1905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3713" y="-10341"/>
            <a:ext cx="10353762" cy="970450"/>
          </a:xfrm>
          <a:prstGeom prst="rect">
            <a:avLst/>
          </a:prstGeom>
        </p:spPr>
        <p:txBody>
          <a:bodyPr vert="horz" wrap="square" lIns="0" tIns="125158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sz="4800" b="0" dirty="0">
                <a:latin typeface="Calibri"/>
                <a:cs typeface="Calibri"/>
              </a:rPr>
              <a:t>Result</a:t>
            </a:r>
            <a:r>
              <a:rPr sz="4800" b="0" spc="-20" dirty="0">
                <a:latin typeface="Calibri"/>
                <a:cs typeface="Calibri"/>
              </a:rPr>
              <a:t> and</a:t>
            </a:r>
            <a:r>
              <a:rPr sz="4800" b="0" spc="-75" dirty="0">
                <a:latin typeface="Calibri"/>
                <a:cs typeface="Calibri"/>
              </a:rPr>
              <a:t> </a:t>
            </a:r>
            <a:r>
              <a:rPr sz="4800" b="0" spc="90" dirty="0">
                <a:latin typeface="Calibri"/>
                <a:cs typeface="Calibri"/>
              </a:rPr>
              <a:t>Discussion</a:t>
            </a:r>
            <a:endParaRPr sz="480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idx="1"/>
          </p:nvPr>
        </p:nvSpPr>
        <p:spPr>
          <a:xfrm>
            <a:off x="6214486" y="2564426"/>
            <a:ext cx="5256416" cy="3692229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469900" marR="5080" indent="-457834">
              <a:lnSpc>
                <a:spcPct val="89500"/>
              </a:lnSpc>
              <a:spcBef>
                <a:spcPts val="330"/>
              </a:spcBef>
              <a:buFont typeface="Wingdings"/>
              <a:buChar char=""/>
              <a:tabLst>
                <a:tab pos="469900" algn="l"/>
              </a:tabLst>
            </a:pPr>
            <a:r>
              <a:rPr sz="1600" b="1" spc="50" dirty="0">
                <a:latin typeface="Calibri"/>
                <a:cs typeface="Calibri"/>
              </a:rPr>
              <a:t>Power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spc="70" dirty="0">
                <a:latin typeface="Calibri"/>
                <a:cs typeface="Calibri"/>
              </a:rPr>
              <a:t>Isolation:</a:t>
            </a:r>
            <a:r>
              <a:rPr sz="1600" b="1" spc="75" dirty="0">
                <a:latin typeface="Calibri"/>
                <a:cs typeface="Calibri"/>
              </a:rPr>
              <a:t> </a:t>
            </a:r>
            <a:r>
              <a:rPr sz="1600" spc="20" dirty="0"/>
              <a:t>The</a:t>
            </a:r>
            <a:r>
              <a:rPr sz="1600" spc="-25" dirty="0"/>
              <a:t> </a:t>
            </a:r>
            <a:r>
              <a:rPr sz="1600" spc="100" dirty="0"/>
              <a:t>successful</a:t>
            </a:r>
            <a:r>
              <a:rPr sz="1600" spc="10" dirty="0"/>
              <a:t> </a:t>
            </a:r>
            <a:r>
              <a:rPr sz="1600" spc="20" dirty="0"/>
              <a:t>implementation</a:t>
            </a:r>
            <a:r>
              <a:rPr sz="1600" spc="10" dirty="0"/>
              <a:t> </a:t>
            </a:r>
            <a:r>
              <a:rPr sz="1600" spc="-25" dirty="0"/>
              <a:t>of </a:t>
            </a:r>
            <a:r>
              <a:rPr sz="1600" spc="20" dirty="0"/>
              <a:t>the</a:t>
            </a:r>
            <a:r>
              <a:rPr sz="1600" spc="50" dirty="0"/>
              <a:t> dual-</a:t>
            </a:r>
            <a:r>
              <a:rPr sz="1600" spc="55" dirty="0"/>
              <a:t>supply</a:t>
            </a:r>
            <a:r>
              <a:rPr sz="1600" spc="35" dirty="0"/>
              <a:t> </a:t>
            </a:r>
            <a:r>
              <a:rPr sz="1600" spc="20" dirty="0"/>
              <a:t>architecture</a:t>
            </a:r>
            <a:r>
              <a:rPr sz="1600" spc="-35" dirty="0"/>
              <a:t> </a:t>
            </a:r>
            <a:r>
              <a:rPr sz="1600" spc="45" dirty="0"/>
              <a:t>contained</a:t>
            </a:r>
            <a:r>
              <a:rPr sz="1600" spc="70" dirty="0"/>
              <a:t> </a:t>
            </a:r>
            <a:r>
              <a:rPr sz="1600" spc="20" dirty="0"/>
              <a:t>current</a:t>
            </a:r>
            <a:r>
              <a:rPr sz="1600" spc="45" dirty="0"/>
              <a:t> </a:t>
            </a:r>
            <a:r>
              <a:rPr sz="1600" spc="55" dirty="0"/>
              <a:t>spikes </a:t>
            </a:r>
            <a:r>
              <a:rPr sz="1600" dirty="0"/>
              <a:t>from the</a:t>
            </a:r>
            <a:r>
              <a:rPr sz="1600" spc="80" dirty="0"/>
              <a:t> </a:t>
            </a:r>
            <a:r>
              <a:rPr sz="1600" dirty="0"/>
              <a:t>SIM900</a:t>
            </a:r>
            <a:r>
              <a:rPr sz="1600" spc="70" dirty="0"/>
              <a:t> </a:t>
            </a:r>
            <a:r>
              <a:rPr sz="1600" spc="60" dirty="0"/>
              <a:t>and</a:t>
            </a:r>
            <a:r>
              <a:rPr sz="1600" spc="10" dirty="0"/>
              <a:t> </a:t>
            </a:r>
            <a:r>
              <a:rPr sz="1600" spc="70" dirty="0"/>
              <a:t>pump</a:t>
            </a:r>
            <a:r>
              <a:rPr sz="1600" spc="10" dirty="0"/>
              <a:t> </a:t>
            </a:r>
            <a:r>
              <a:rPr sz="1600" dirty="0"/>
              <a:t>startup,</a:t>
            </a:r>
            <a:r>
              <a:rPr sz="1600" spc="60" dirty="0"/>
              <a:t> </a:t>
            </a:r>
            <a:r>
              <a:rPr sz="1600" dirty="0"/>
              <a:t>preventing</a:t>
            </a:r>
            <a:r>
              <a:rPr sz="1600" spc="85" dirty="0"/>
              <a:t> </a:t>
            </a:r>
            <a:r>
              <a:rPr sz="1600" spc="-25" dirty="0"/>
              <a:t>the </a:t>
            </a:r>
            <a:r>
              <a:rPr sz="1600" spc="10" dirty="0"/>
              <a:t>voltage</a:t>
            </a:r>
            <a:r>
              <a:rPr sz="1600" spc="114" dirty="0"/>
              <a:t> </a:t>
            </a:r>
            <a:r>
              <a:rPr sz="1600" spc="10" dirty="0"/>
              <a:t>fluctuations</a:t>
            </a:r>
            <a:r>
              <a:rPr sz="1600" spc="120" dirty="0"/>
              <a:t> </a:t>
            </a:r>
            <a:r>
              <a:rPr sz="1600" spc="10" dirty="0"/>
              <a:t>that</a:t>
            </a:r>
            <a:r>
              <a:rPr sz="1600" spc="15" dirty="0"/>
              <a:t> </a:t>
            </a:r>
            <a:r>
              <a:rPr sz="1600" spc="65" dirty="0"/>
              <a:t>commonly</a:t>
            </a:r>
            <a:r>
              <a:rPr sz="1600" spc="5" dirty="0"/>
              <a:t> </a:t>
            </a:r>
            <a:r>
              <a:rPr sz="1600" spc="110" dirty="0"/>
              <a:t>cause</a:t>
            </a:r>
            <a:r>
              <a:rPr sz="1600" spc="25" dirty="0"/>
              <a:t> </a:t>
            </a:r>
            <a:r>
              <a:rPr sz="1600" spc="-10" dirty="0"/>
              <a:t>instability</a:t>
            </a:r>
            <a:r>
              <a:rPr sz="1600" spc="500" dirty="0"/>
              <a:t> </a:t>
            </a:r>
            <a:r>
              <a:rPr sz="1600" dirty="0"/>
              <a:t>or</a:t>
            </a:r>
            <a:r>
              <a:rPr sz="1600" spc="-25" dirty="0"/>
              <a:t> </a:t>
            </a:r>
            <a:r>
              <a:rPr sz="1600" spc="65" dirty="0"/>
              <a:t>system</a:t>
            </a:r>
            <a:r>
              <a:rPr sz="1600" spc="-55" dirty="0"/>
              <a:t> </a:t>
            </a:r>
            <a:r>
              <a:rPr sz="1600" spc="65" dirty="0"/>
              <a:t>resets</a:t>
            </a:r>
            <a:r>
              <a:rPr sz="1600" spc="-65" dirty="0"/>
              <a:t> </a:t>
            </a:r>
            <a:r>
              <a:rPr sz="1600" dirty="0"/>
              <a:t>in</a:t>
            </a:r>
            <a:r>
              <a:rPr sz="1600" spc="-40" dirty="0"/>
              <a:t> </a:t>
            </a:r>
            <a:r>
              <a:rPr sz="1600" spc="50" dirty="0"/>
              <a:t>embedded</a:t>
            </a:r>
            <a:r>
              <a:rPr sz="1600" spc="-50" dirty="0"/>
              <a:t> </a:t>
            </a:r>
            <a:r>
              <a:rPr sz="1600" spc="40" dirty="0"/>
              <a:t>projects.</a:t>
            </a:r>
          </a:p>
          <a:p>
            <a:pPr marL="469900" marR="107314" indent="-457834">
              <a:lnSpc>
                <a:spcPct val="89500"/>
              </a:lnSpc>
              <a:spcBef>
                <a:spcPts val="1070"/>
              </a:spcBef>
              <a:buFont typeface="Wingdings"/>
              <a:buChar char=""/>
              <a:tabLst>
                <a:tab pos="469900" algn="l"/>
              </a:tabLst>
            </a:pPr>
            <a:r>
              <a:rPr sz="1600" b="1" spc="75" dirty="0">
                <a:latin typeface="Calibri"/>
                <a:cs typeface="Calibri"/>
              </a:rPr>
              <a:t>Inductive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95" dirty="0">
                <a:latin typeface="Calibri"/>
                <a:cs typeface="Calibri"/>
              </a:rPr>
              <a:t>Load</a:t>
            </a:r>
            <a:r>
              <a:rPr sz="1600" b="1" spc="-5" dirty="0">
                <a:latin typeface="Calibri"/>
                <a:cs typeface="Calibri"/>
              </a:rPr>
              <a:t> </a:t>
            </a:r>
            <a:r>
              <a:rPr sz="1600" b="1" spc="50" dirty="0">
                <a:latin typeface="Calibri"/>
                <a:cs typeface="Calibri"/>
              </a:rPr>
              <a:t>Management: </a:t>
            </a:r>
            <a:r>
              <a:rPr sz="1600" dirty="0"/>
              <a:t>The</a:t>
            </a:r>
            <a:r>
              <a:rPr sz="1600" spc="-45" dirty="0"/>
              <a:t> </a:t>
            </a:r>
            <a:r>
              <a:rPr sz="1600" spc="55" dirty="0"/>
              <a:t>flyback</a:t>
            </a:r>
            <a:r>
              <a:rPr sz="1600" spc="30" dirty="0"/>
              <a:t> </a:t>
            </a:r>
            <a:r>
              <a:rPr sz="1600" spc="-10" dirty="0"/>
              <a:t>diode </a:t>
            </a:r>
            <a:r>
              <a:rPr sz="1600" spc="10" dirty="0"/>
              <a:t>proved</a:t>
            </a:r>
            <a:r>
              <a:rPr sz="1600" spc="55" dirty="0"/>
              <a:t> </a:t>
            </a:r>
            <a:r>
              <a:rPr sz="1600" spc="60" dirty="0"/>
              <a:t>essential</a:t>
            </a:r>
            <a:r>
              <a:rPr sz="1600" spc="-5" dirty="0"/>
              <a:t> </a:t>
            </a:r>
            <a:r>
              <a:rPr sz="1600" spc="10" dirty="0"/>
              <a:t>in</a:t>
            </a:r>
            <a:r>
              <a:rPr sz="1600" spc="-5" dirty="0"/>
              <a:t> </a:t>
            </a:r>
            <a:r>
              <a:rPr sz="1600" spc="10" dirty="0"/>
              <a:t>mitigating</a:t>
            </a:r>
            <a:r>
              <a:rPr sz="1600" spc="-35" dirty="0"/>
              <a:t> </a:t>
            </a:r>
            <a:r>
              <a:rPr sz="1600" spc="95" dirty="0"/>
              <a:t>back</a:t>
            </a:r>
            <a:r>
              <a:rPr sz="1600" spc="40" dirty="0"/>
              <a:t> </a:t>
            </a:r>
            <a:r>
              <a:rPr sz="1600" dirty="0"/>
              <a:t>EMF,</a:t>
            </a:r>
            <a:r>
              <a:rPr sz="1600" spc="25" dirty="0"/>
              <a:t> </a:t>
            </a:r>
            <a:r>
              <a:rPr sz="1600" spc="10" dirty="0"/>
              <a:t>ensuring</a:t>
            </a:r>
            <a:r>
              <a:rPr sz="1600" spc="-40" dirty="0"/>
              <a:t> </a:t>
            </a:r>
            <a:r>
              <a:rPr sz="1600" spc="-25" dirty="0"/>
              <a:t>the </a:t>
            </a:r>
            <a:r>
              <a:rPr sz="1600" spc="55" dirty="0"/>
              <a:t>consistent</a:t>
            </a:r>
            <a:r>
              <a:rPr sz="1600" spc="45" dirty="0"/>
              <a:t> </a:t>
            </a:r>
            <a:r>
              <a:rPr sz="1600" dirty="0"/>
              <a:t>operation</a:t>
            </a:r>
            <a:r>
              <a:rPr sz="1600" spc="5" dirty="0"/>
              <a:t> </a:t>
            </a:r>
            <a:r>
              <a:rPr sz="1600" dirty="0"/>
              <a:t>of</a:t>
            </a:r>
            <a:r>
              <a:rPr sz="1600" spc="10" dirty="0"/>
              <a:t> </a:t>
            </a:r>
            <a:r>
              <a:rPr sz="1600" dirty="0"/>
              <a:t>the</a:t>
            </a:r>
            <a:r>
              <a:rPr sz="1600" spc="55" dirty="0"/>
              <a:t> </a:t>
            </a:r>
            <a:r>
              <a:rPr sz="1600" dirty="0"/>
              <a:t>relay</a:t>
            </a:r>
            <a:r>
              <a:rPr sz="1600" spc="35" dirty="0"/>
              <a:t> </a:t>
            </a:r>
            <a:r>
              <a:rPr sz="1600" spc="60" dirty="0"/>
              <a:t>and</a:t>
            </a:r>
            <a:r>
              <a:rPr sz="1600" spc="-10" dirty="0"/>
              <a:t> </a:t>
            </a:r>
            <a:r>
              <a:rPr sz="1600" dirty="0"/>
              <a:t>the</a:t>
            </a:r>
            <a:r>
              <a:rPr sz="1600" spc="-30" dirty="0"/>
              <a:t> </a:t>
            </a:r>
            <a:r>
              <a:rPr sz="1600" spc="55" dirty="0"/>
              <a:t>micro- </a:t>
            </a:r>
            <a:r>
              <a:rPr sz="1600" dirty="0"/>
              <a:t>controller</a:t>
            </a:r>
            <a:r>
              <a:rPr sz="1600" spc="105" dirty="0"/>
              <a:t> </a:t>
            </a:r>
            <a:r>
              <a:rPr sz="1600" dirty="0"/>
              <a:t>logic</a:t>
            </a:r>
            <a:r>
              <a:rPr sz="1600" spc="150" dirty="0"/>
              <a:t> </a:t>
            </a:r>
            <a:r>
              <a:rPr sz="1600" dirty="0"/>
              <a:t>during</a:t>
            </a:r>
            <a:r>
              <a:rPr sz="1600" spc="150" dirty="0"/>
              <a:t> </a:t>
            </a:r>
            <a:r>
              <a:rPr sz="1600" dirty="0"/>
              <a:t>the</a:t>
            </a:r>
            <a:r>
              <a:rPr sz="1600" spc="40" dirty="0"/>
              <a:t> </a:t>
            </a:r>
            <a:r>
              <a:rPr sz="1600" spc="65" dirty="0"/>
              <a:t>suppression</a:t>
            </a:r>
            <a:r>
              <a:rPr sz="1600" spc="90" dirty="0"/>
              <a:t> </a:t>
            </a:r>
            <a:r>
              <a:rPr sz="1600" spc="70" dirty="0"/>
              <a:t>cycle </a:t>
            </a:r>
            <a:r>
              <a:rPr sz="1600" spc="-10" dirty="0"/>
              <a:t>shutdown.</a:t>
            </a:r>
          </a:p>
          <a:p>
            <a:pPr marL="469900" marR="8255" indent="-457834">
              <a:lnSpc>
                <a:spcPts val="1950"/>
              </a:lnSpc>
              <a:spcBef>
                <a:spcPts val="1010"/>
              </a:spcBef>
              <a:buFont typeface="Wingdings"/>
              <a:buChar char=""/>
              <a:tabLst>
                <a:tab pos="469900" algn="l"/>
              </a:tabLst>
            </a:pPr>
            <a:r>
              <a:rPr sz="1600" b="1" spc="85" dirty="0">
                <a:latin typeface="Calibri"/>
                <a:cs typeface="Calibri"/>
              </a:rPr>
              <a:t>GSM</a:t>
            </a:r>
            <a:r>
              <a:rPr sz="1600" b="1" spc="-1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Alert</a:t>
            </a:r>
            <a:r>
              <a:rPr sz="1600" b="1" spc="100" dirty="0">
                <a:latin typeface="Calibri"/>
                <a:cs typeface="Calibri"/>
              </a:rPr>
              <a:t> </a:t>
            </a:r>
            <a:r>
              <a:rPr sz="1600" b="1" spc="60" dirty="0">
                <a:latin typeface="Calibri"/>
                <a:cs typeface="Calibri"/>
              </a:rPr>
              <a:t>Reliability:</a:t>
            </a:r>
            <a:r>
              <a:rPr sz="1600" b="1" spc="114" dirty="0">
                <a:latin typeface="Calibri"/>
                <a:cs typeface="Calibri"/>
              </a:rPr>
              <a:t> </a:t>
            </a:r>
            <a:r>
              <a:rPr sz="1600" dirty="0"/>
              <a:t>The robust</a:t>
            </a:r>
            <a:r>
              <a:rPr sz="1600" spc="85" dirty="0"/>
              <a:t> </a:t>
            </a:r>
            <a:r>
              <a:rPr sz="1600" dirty="0"/>
              <a:t>power</a:t>
            </a:r>
            <a:r>
              <a:rPr sz="1600" spc="55" dirty="0"/>
              <a:t> </a:t>
            </a:r>
            <a:r>
              <a:rPr sz="1600" spc="50" dirty="0"/>
              <a:t>supply dedicated</a:t>
            </a:r>
            <a:r>
              <a:rPr sz="1600" spc="25" dirty="0"/>
              <a:t> </a:t>
            </a:r>
            <a:r>
              <a:rPr sz="1600" spc="10" dirty="0"/>
              <a:t>to</a:t>
            </a:r>
            <a:r>
              <a:rPr sz="1600" spc="45" dirty="0"/>
              <a:t> </a:t>
            </a:r>
            <a:r>
              <a:rPr sz="1600" spc="10" dirty="0"/>
              <a:t>the</a:t>
            </a:r>
            <a:r>
              <a:rPr sz="1600" spc="5" dirty="0"/>
              <a:t> </a:t>
            </a:r>
            <a:r>
              <a:rPr sz="1600" spc="10" dirty="0"/>
              <a:t>SIM900</a:t>
            </a:r>
            <a:r>
              <a:rPr sz="1600" spc="-15" dirty="0"/>
              <a:t> </a:t>
            </a:r>
            <a:r>
              <a:rPr sz="1600" spc="70" dirty="0"/>
              <a:t>ensures</a:t>
            </a:r>
            <a:r>
              <a:rPr sz="1600" spc="10" dirty="0"/>
              <a:t> sufficient</a:t>
            </a:r>
            <a:r>
              <a:rPr sz="1600" spc="90" dirty="0"/>
              <a:t> </a:t>
            </a:r>
            <a:r>
              <a:rPr sz="1600" spc="10" dirty="0"/>
              <a:t>current</a:t>
            </a:r>
            <a:r>
              <a:rPr sz="1600" spc="90" dirty="0"/>
              <a:t> </a:t>
            </a:r>
            <a:r>
              <a:rPr sz="1600" spc="-25" dirty="0"/>
              <a:t>for </a:t>
            </a:r>
            <a:r>
              <a:rPr sz="1600" dirty="0"/>
              <a:t>high-</a:t>
            </a:r>
            <a:r>
              <a:rPr sz="1600" spc="60" dirty="0"/>
              <a:t>peak</a:t>
            </a:r>
            <a:r>
              <a:rPr sz="1600" spc="210" dirty="0"/>
              <a:t> </a:t>
            </a:r>
            <a:r>
              <a:rPr sz="1600" spc="55" dirty="0"/>
              <a:t>transmission</a:t>
            </a:r>
            <a:r>
              <a:rPr sz="1600" spc="145" dirty="0"/>
              <a:t> </a:t>
            </a:r>
            <a:r>
              <a:rPr sz="1600" dirty="0"/>
              <a:t>requirements,</a:t>
            </a:r>
            <a:r>
              <a:rPr sz="1600" spc="190" dirty="0"/>
              <a:t> </a:t>
            </a:r>
            <a:r>
              <a:rPr sz="1600" dirty="0"/>
              <a:t>leading</a:t>
            </a:r>
            <a:r>
              <a:rPr sz="1600" spc="100" dirty="0"/>
              <a:t> </a:t>
            </a:r>
            <a:r>
              <a:rPr sz="1600" spc="-25" dirty="0"/>
              <a:t>to </a:t>
            </a:r>
            <a:r>
              <a:rPr sz="1600" dirty="0"/>
              <a:t>reliable</a:t>
            </a:r>
            <a:r>
              <a:rPr sz="1600" spc="30" dirty="0"/>
              <a:t> </a:t>
            </a:r>
            <a:r>
              <a:rPr sz="1600" spc="95" dirty="0"/>
              <a:t>SMS</a:t>
            </a:r>
            <a:r>
              <a:rPr sz="1600" spc="45" dirty="0"/>
              <a:t> </a:t>
            </a:r>
            <a:r>
              <a:rPr sz="1600" dirty="0"/>
              <a:t>delivery</a:t>
            </a:r>
            <a:r>
              <a:rPr sz="1600" spc="10" dirty="0"/>
              <a:t> </a:t>
            </a:r>
            <a:r>
              <a:rPr sz="1600" dirty="0"/>
              <a:t>during</a:t>
            </a:r>
            <a:r>
              <a:rPr sz="1600" spc="35" dirty="0"/>
              <a:t> </a:t>
            </a:r>
            <a:r>
              <a:rPr sz="1600" dirty="0"/>
              <a:t>the</a:t>
            </a:r>
            <a:r>
              <a:rPr sz="1600" spc="130" dirty="0"/>
              <a:t> </a:t>
            </a:r>
            <a:r>
              <a:rPr sz="1600" spc="55" dirty="0"/>
              <a:t>critical</a:t>
            </a:r>
            <a:r>
              <a:rPr sz="1600" spc="75" dirty="0"/>
              <a:t> </a:t>
            </a:r>
            <a:r>
              <a:rPr sz="1600" dirty="0"/>
              <a:t>alert</a:t>
            </a:r>
            <a:r>
              <a:rPr sz="1600" spc="20" dirty="0"/>
              <a:t> </a:t>
            </a:r>
            <a:r>
              <a:rPr sz="1600" spc="65" dirty="0"/>
              <a:t>phase.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1336" y="1851894"/>
            <a:ext cx="2623185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spc="120" dirty="0">
                <a:latin typeface="Calibri"/>
                <a:cs typeface="Calibri"/>
              </a:rPr>
              <a:t>Detection</a:t>
            </a:r>
            <a:r>
              <a:rPr sz="2150" b="1" spc="-20" dirty="0">
                <a:latin typeface="Calibri"/>
                <a:cs typeface="Calibri"/>
              </a:rPr>
              <a:t> </a:t>
            </a:r>
            <a:r>
              <a:rPr sz="2150" b="1" spc="90" dirty="0">
                <a:latin typeface="Calibri"/>
                <a:cs typeface="Calibri"/>
              </a:rPr>
              <a:t>Reliability</a:t>
            </a:r>
            <a:endParaRPr sz="215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2732" y="2554766"/>
            <a:ext cx="52324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469900" algn="l"/>
              </a:tabLst>
            </a:pPr>
            <a:r>
              <a:rPr sz="1600" b="1" dirty="0">
                <a:latin typeface="Calibri"/>
                <a:cs typeface="Calibri"/>
              </a:rPr>
              <a:t>MQ-2</a:t>
            </a:r>
            <a:r>
              <a:rPr sz="1600" b="1" spc="60" dirty="0">
                <a:latin typeface="Calibri"/>
                <a:cs typeface="Calibri"/>
              </a:rPr>
              <a:t> </a:t>
            </a:r>
            <a:r>
              <a:rPr sz="1600" b="1" spc="65" dirty="0">
                <a:latin typeface="Calibri"/>
                <a:cs typeface="Calibri"/>
              </a:rPr>
              <a:t>Stabilization</a:t>
            </a:r>
            <a:r>
              <a:rPr sz="1600" spc="65" dirty="0">
                <a:latin typeface="Calibri"/>
                <a:cs typeface="Calibri"/>
              </a:rPr>
              <a:t>:</a:t>
            </a:r>
            <a:r>
              <a:rPr sz="1600" spc="50" dirty="0">
                <a:latin typeface="Calibri"/>
                <a:cs typeface="Calibri"/>
              </a:rPr>
              <a:t> Accurate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operation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requires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8372" y="2762222"/>
            <a:ext cx="414655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rigorous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pre-heating: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90" dirty="0">
                <a:latin typeface="Calibri"/>
                <a:cs typeface="Calibri"/>
              </a:rPr>
              <a:t>a</a:t>
            </a:r>
            <a:r>
              <a:rPr sz="1600" spc="165" dirty="0">
                <a:latin typeface="Calibri"/>
                <a:cs typeface="Calibri"/>
              </a:rPr>
              <a:t> </a:t>
            </a:r>
            <a:r>
              <a:rPr sz="1600" spc="55" dirty="0">
                <a:latin typeface="Calibri"/>
                <a:cs typeface="Calibri"/>
              </a:rPr>
              <a:t>20-</a:t>
            </a:r>
            <a:r>
              <a:rPr sz="1600" spc="80" dirty="0">
                <a:latin typeface="Calibri"/>
                <a:cs typeface="Calibri"/>
              </a:rPr>
              <a:t>second</a:t>
            </a:r>
            <a:r>
              <a:rPr sz="1600" spc="2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delay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in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0855" y="4229798"/>
            <a:ext cx="1479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0855" y="3006566"/>
            <a:ext cx="5380990" cy="1506566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469900" marR="572135">
              <a:lnSpc>
                <a:spcPct val="73000"/>
              </a:lnSpc>
              <a:spcBef>
                <a:spcPts val="685"/>
              </a:spcBef>
            </a:pPr>
            <a:r>
              <a:rPr sz="1600" dirty="0">
                <a:latin typeface="Calibri"/>
                <a:cs typeface="Calibri"/>
              </a:rPr>
              <a:t>setup()</a:t>
            </a:r>
            <a:r>
              <a:rPr sz="1600" spc="55" dirty="0">
                <a:latin typeface="Calibri"/>
                <a:cs typeface="Calibri"/>
              </a:rPr>
              <a:t>  </a:t>
            </a:r>
            <a:r>
              <a:rPr sz="1600" spc="70" dirty="0">
                <a:latin typeface="Calibri"/>
                <a:cs typeface="Calibri"/>
              </a:rPr>
              <a:t>and,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ideally,</a:t>
            </a:r>
            <a:r>
              <a:rPr sz="1600" spc="90" dirty="0">
                <a:latin typeface="Calibri"/>
                <a:cs typeface="Calibri"/>
              </a:rPr>
              <a:t> a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24-</a:t>
            </a:r>
            <a:r>
              <a:rPr sz="1600" spc="50" dirty="0">
                <a:latin typeface="Calibri"/>
                <a:cs typeface="Calibri"/>
              </a:rPr>
              <a:t>48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hour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burn-in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for </a:t>
            </a:r>
            <a:r>
              <a:rPr sz="1600" spc="50" dirty="0">
                <a:latin typeface="Calibri"/>
                <a:cs typeface="Calibri"/>
              </a:rPr>
              <a:t>optimal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long-term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stability.</a:t>
            </a:r>
            <a:endParaRPr sz="16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315"/>
              </a:spcBef>
              <a:buFont typeface="Wingdings"/>
              <a:buChar char=""/>
              <a:tabLst>
                <a:tab pos="469900" algn="l"/>
              </a:tabLst>
            </a:pPr>
            <a:r>
              <a:rPr sz="1600" b="1" spc="75" dirty="0">
                <a:latin typeface="Calibri"/>
                <a:cs typeface="Calibri"/>
              </a:rPr>
              <a:t>Threshold</a:t>
            </a:r>
            <a:r>
              <a:rPr sz="1600" b="1" spc="-5" dirty="0">
                <a:latin typeface="Calibri"/>
                <a:cs typeface="Calibri"/>
              </a:rPr>
              <a:t> </a:t>
            </a:r>
            <a:r>
              <a:rPr sz="1600" b="1" spc="75" dirty="0">
                <a:latin typeface="Calibri"/>
                <a:cs typeface="Calibri"/>
              </a:rPr>
              <a:t>Benchmarking:</a:t>
            </a:r>
            <a:endParaRPr sz="1600" dirty="0">
              <a:latin typeface="Calibri"/>
              <a:cs typeface="Calibri"/>
            </a:endParaRPr>
          </a:p>
          <a:p>
            <a:pPr marL="565785">
              <a:lnSpc>
                <a:spcPct val="100000"/>
              </a:lnSpc>
              <a:spcBef>
                <a:spcPts val="395"/>
              </a:spcBef>
            </a:pPr>
            <a:r>
              <a:rPr sz="1600" dirty="0">
                <a:latin typeface="Calibri"/>
                <a:cs typeface="Calibri"/>
              </a:rPr>
              <a:t>MQ-2</a:t>
            </a:r>
            <a:r>
              <a:rPr sz="1600" spc="1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Fire</a:t>
            </a:r>
            <a:r>
              <a:rPr sz="1600" spc="1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Threshold:</a:t>
            </a:r>
            <a:r>
              <a:rPr sz="1600" spc="1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Analog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reading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spc="45" dirty="0">
                <a:latin typeface="Calibri"/>
                <a:cs typeface="Calibri"/>
              </a:rPr>
              <a:t>consistently</a:t>
            </a:r>
            <a:endParaRPr sz="1600" dirty="0">
              <a:latin typeface="Calibri"/>
              <a:cs typeface="Calibri"/>
            </a:endParaRPr>
          </a:p>
          <a:p>
            <a:pPr marL="565785">
              <a:lnSpc>
                <a:spcPct val="100000"/>
              </a:lnSpc>
              <a:spcBef>
                <a:spcPts val="1820"/>
              </a:spcBef>
            </a:pPr>
            <a:r>
              <a:rPr sz="1600" spc="145" dirty="0">
                <a:latin typeface="Calibri"/>
                <a:cs typeface="Calibri"/>
              </a:rPr>
              <a:t>ADC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units.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[10,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7]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3937" y="4590936"/>
            <a:ext cx="5024755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75" dirty="0">
                <a:latin typeface="Calibri"/>
                <a:cs typeface="Calibri"/>
              </a:rPr>
              <a:t>Flame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spc="70" dirty="0">
                <a:latin typeface="Calibri"/>
                <a:cs typeface="Calibri"/>
              </a:rPr>
              <a:t>Sensor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Fire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Threshold: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lang="en-US" sz="1600" spc="90" dirty="0">
                <a:latin typeface="Calibri"/>
                <a:cs typeface="Calibri"/>
              </a:rPr>
              <a:t>                                           </a:t>
            </a:r>
            <a:r>
              <a:rPr sz="1600" dirty="0">
                <a:latin typeface="Calibri"/>
                <a:cs typeface="Calibri"/>
              </a:rPr>
              <a:t>Analog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60" dirty="0">
                <a:latin typeface="Calibri"/>
                <a:cs typeface="Calibri"/>
              </a:rPr>
              <a:t>consistently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lang="en-US" sz="1600" spc="-5" dirty="0">
                <a:latin typeface="Calibri"/>
                <a:cs typeface="Calibri"/>
              </a:rPr>
              <a:t>&lt;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6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85463" y="4821837"/>
            <a:ext cx="149225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50" dirty="0">
                <a:latin typeface="Calibri"/>
                <a:cs typeface="Calibri"/>
              </a:rPr>
              <a:t>150</a:t>
            </a:r>
            <a:r>
              <a:rPr sz="1600" spc="-95" dirty="0">
                <a:latin typeface="Calibri"/>
                <a:cs typeface="Calibri"/>
              </a:rPr>
              <a:t> </a:t>
            </a:r>
            <a:r>
              <a:rPr sz="1600" spc="145" dirty="0">
                <a:latin typeface="Calibri"/>
                <a:cs typeface="Calibri"/>
              </a:rPr>
              <a:t>ADC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units.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0855" y="5249306"/>
            <a:ext cx="423100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469900" algn="l"/>
              </a:tabLst>
            </a:pPr>
            <a:r>
              <a:rPr sz="1600" b="1" spc="114" dirty="0">
                <a:latin typeface="Calibri"/>
                <a:cs typeface="Calibri"/>
              </a:rPr>
              <a:t>Sensor</a:t>
            </a:r>
            <a:r>
              <a:rPr sz="1600" b="1" spc="-95" dirty="0">
                <a:latin typeface="Calibri"/>
                <a:cs typeface="Calibri"/>
              </a:rPr>
              <a:t> </a:t>
            </a:r>
            <a:r>
              <a:rPr sz="1600" b="1" spc="110" dirty="0">
                <a:latin typeface="Calibri"/>
                <a:cs typeface="Calibri"/>
              </a:rPr>
              <a:t>Fusion</a:t>
            </a:r>
            <a:r>
              <a:rPr sz="1600" b="1" spc="-95" dirty="0">
                <a:latin typeface="Calibri"/>
                <a:cs typeface="Calibri"/>
              </a:rPr>
              <a:t> </a:t>
            </a:r>
            <a:r>
              <a:rPr sz="1600" b="1" spc="90" dirty="0">
                <a:latin typeface="Calibri"/>
                <a:cs typeface="Calibri"/>
              </a:rPr>
              <a:t>Outcom</a:t>
            </a:r>
            <a:r>
              <a:rPr sz="1600" spc="90" dirty="0">
                <a:latin typeface="Calibri"/>
                <a:cs typeface="Calibri"/>
              </a:rPr>
              <a:t>e:</a:t>
            </a:r>
            <a:r>
              <a:rPr sz="1600" spc="-95" dirty="0">
                <a:latin typeface="Calibri"/>
                <a:cs typeface="Calibri"/>
              </a:rPr>
              <a:t> </a:t>
            </a:r>
            <a:r>
              <a:rPr sz="1600" spc="65" dirty="0">
                <a:latin typeface="Calibri"/>
                <a:cs typeface="Calibri"/>
              </a:rPr>
              <a:t>By</a:t>
            </a:r>
            <a:r>
              <a:rPr sz="1600" spc="-9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requiring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8372" y="5469440"/>
            <a:ext cx="495490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60" dirty="0">
                <a:latin typeface="Calibri"/>
                <a:cs typeface="Calibri"/>
              </a:rPr>
              <a:t>simultaneous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spc="10" dirty="0">
                <a:latin typeface="Calibri"/>
                <a:cs typeface="Calibri"/>
              </a:rPr>
              <a:t>confirmation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10" dirty="0">
                <a:latin typeface="Calibri"/>
                <a:cs typeface="Calibri"/>
              </a:rPr>
              <a:t>from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spc="10" dirty="0">
                <a:latin typeface="Calibri"/>
                <a:cs typeface="Calibri"/>
              </a:rPr>
              <a:t>both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80" dirty="0">
                <a:latin typeface="Calibri"/>
                <a:cs typeface="Calibri"/>
              </a:rPr>
              <a:t>sensors,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5992" y="5698211"/>
            <a:ext cx="479488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65" dirty="0">
                <a:latin typeface="Calibri"/>
                <a:cs typeface="Calibri"/>
              </a:rPr>
              <a:t>system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effectively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60" dirty="0">
                <a:latin typeface="Calibri"/>
                <a:cs typeface="Calibri"/>
              </a:rPr>
              <a:t>avoids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70" dirty="0">
                <a:latin typeface="Calibri"/>
                <a:cs typeface="Calibri"/>
              </a:rPr>
              <a:t>false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75" dirty="0">
                <a:latin typeface="Calibri"/>
                <a:cs typeface="Calibri"/>
              </a:rPr>
              <a:t>alarms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spc="95" dirty="0">
                <a:latin typeface="Calibri"/>
                <a:cs typeface="Calibri"/>
              </a:rPr>
              <a:t>caused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by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48372" y="5921758"/>
            <a:ext cx="46101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non-fire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vapors</a:t>
            </a:r>
            <a:r>
              <a:rPr sz="1600" spc="1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(MQ-</a:t>
            </a:r>
            <a:r>
              <a:rPr sz="1600" dirty="0">
                <a:latin typeface="Calibri"/>
                <a:cs typeface="Calibri"/>
              </a:rPr>
              <a:t>2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only)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ambient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infrared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48372" y="6147117"/>
            <a:ext cx="480250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20" dirty="0">
                <a:latin typeface="Calibri"/>
                <a:cs typeface="Calibri"/>
              </a:rPr>
              <a:t>light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70" dirty="0">
                <a:latin typeface="Calibri"/>
                <a:cs typeface="Calibri"/>
              </a:rPr>
              <a:t>(Flame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65" dirty="0">
                <a:latin typeface="Calibri"/>
                <a:cs typeface="Calibri"/>
              </a:rPr>
              <a:t>sensor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20" dirty="0">
                <a:latin typeface="Calibri"/>
                <a:cs typeface="Calibri"/>
              </a:rPr>
              <a:t>only),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20" dirty="0">
                <a:latin typeface="Calibri"/>
                <a:cs typeface="Calibri"/>
              </a:rPr>
              <a:t>significantly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spc="45" dirty="0">
                <a:latin typeface="Calibri"/>
                <a:cs typeface="Calibri"/>
              </a:rPr>
              <a:t>enhancing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8372" y="6403230"/>
            <a:ext cx="197103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10" dirty="0">
                <a:latin typeface="Calibri"/>
                <a:cs typeface="Calibri"/>
              </a:rPr>
              <a:t>detection</a:t>
            </a:r>
            <a:r>
              <a:rPr sz="1600" spc="2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reliability.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62291" y="964554"/>
            <a:ext cx="83966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8450" algn="l"/>
                <a:tab pos="5349240" algn="l"/>
                <a:tab pos="5634990" algn="l"/>
              </a:tabLst>
            </a:pPr>
            <a:r>
              <a:rPr sz="2400" b="1" dirty="0">
                <a:latin typeface="Calibri"/>
                <a:cs typeface="Calibri"/>
              </a:rPr>
              <a:t>(I):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100" dirty="0">
                <a:latin typeface="Calibri"/>
                <a:cs typeface="Calibri"/>
              </a:rPr>
              <a:t>Calibration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105" dirty="0">
                <a:latin typeface="Calibri"/>
                <a:cs typeface="Calibri"/>
              </a:rPr>
              <a:t>and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114" dirty="0">
                <a:latin typeface="Calibri"/>
                <a:cs typeface="Calibri"/>
              </a:rPr>
              <a:t>Fusion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spc="-50" dirty="0">
                <a:latin typeface="Arial"/>
                <a:cs typeface="Arial"/>
              </a:rPr>
              <a:t>•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b="1" dirty="0">
                <a:latin typeface="Calibri"/>
                <a:cs typeface="Calibri"/>
              </a:rPr>
              <a:t>(II):</a:t>
            </a:r>
            <a:r>
              <a:rPr sz="2400" b="1" spc="25" dirty="0">
                <a:latin typeface="Calibri"/>
                <a:cs typeface="Calibri"/>
              </a:rPr>
              <a:t> </a:t>
            </a:r>
            <a:r>
              <a:rPr sz="2400" b="1" spc="125" dirty="0">
                <a:latin typeface="Calibri"/>
                <a:cs typeface="Calibri"/>
              </a:rPr>
              <a:t>System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75" dirty="0">
                <a:latin typeface="Calibri"/>
                <a:cs typeface="Calibri"/>
              </a:rPr>
              <a:t>Stability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74130" y="1874754"/>
            <a:ext cx="214312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110" dirty="0">
                <a:latin typeface="Calibri"/>
                <a:cs typeface="Calibri"/>
              </a:rPr>
              <a:t>Electrical</a:t>
            </a:r>
            <a:r>
              <a:rPr sz="2000" b="1" spc="2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Integrity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038850" y="1676400"/>
            <a:ext cx="19685" cy="5181600"/>
          </a:xfrm>
          <a:custGeom>
            <a:avLst/>
            <a:gdLst/>
            <a:ahLst/>
            <a:cxnLst/>
            <a:rect l="l" t="t" r="r" b="b"/>
            <a:pathLst>
              <a:path w="19685" h="5181600">
                <a:moveTo>
                  <a:pt x="0" y="0"/>
                </a:moveTo>
                <a:lnTo>
                  <a:pt x="19275" y="5181600"/>
                </a:lnTo>
              </a:path>
            </a:pathLst>
          </a:custGeom>
          <a:ln w="1905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4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b="0" spc="-30" dirty="0">
                <a:latin typeface="Calibri"/>
                <a:cs typeface="Calibri"/>
              </a:rPr>
              <a:t>Application</a:t>
            </a:r>
            <a:r>
              <a:rPr sz="4400" b="0" spc="-204" dirty="0">
                <a:latin typeface="Calibri"/>
                <a:cs typeface="Calibri"/>
              </a:rPr>
              <a:t> </a:t>
            </a:r>
            <a:r>
              <a:rPr sz="4400" b="0" spc="-45" dirty="0">
                <a:latin typeface="Calibri"/>
                <a:cs typeface="Calibri"/>
              </a:rPr>
              <a:t>,Limitation</a:t>
            </a:r>
            <a:r>
              <a:rPr sz="4400" b="0" spc="-204" dirty="0">
                <a:latin typeface="Calibri"/>
                <a:cs typeface="Calibri"/>
              </a:rPr>
              <a:t> </a:t>
            </a:r>
            <a:r>
              <a:rPr sz="4400" b="0" spc="-10" dirty="0">
                <a:latin typeface="Calibri"/>
                <a:cs typeface="Calibri"/>
              </a:rPr>
              <a:t>and</a:t>
            </a:r>
            <a:r>
              <a:rPr sz="4400" b="0" spc="-195" dirty="0">
                <a:latin typeface="Calibri"/>
                <a:cs typeface="Calibri"/>
              </a:rPr>
              <a:t> </a:t>
            </a:r>
            <a:r>
              <a:rPr sz="4400" b="0" spc="-65" dirty="0">
                <a:latin typeface="Calibri"/>
                <a:cs typeface="Calibri"/>
              </a:rPr>
              <a:t>Future</a:t>
            </a:r>
            <a:r>
              <a:rPr sz="4400" b="0" spc="-155" dirty="0">
                <a:latin typeface="Calibri"/>
                <a:cs typeface="Calibri"/>
              </a:rPr>
              <a:t> </a:t>
            </a:r>
            <a:r>
              <a:rPr sz="4400" b="0" spc="90" dirty="0">
                <a:latin typeface="Calibri"/>
                <a:cs typeface="Calibri"/>
              </a:rPr>
              <a:t>Scope</a:t>
            </a:r>
            <a:endParaRPr sz="4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575" y="1794255"/>
            <a:ext cx="10278745" cy="377825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marR="480059" indent="-229235">
              <a:lnSpc>
                <a:spcPct val="92200"/>
              </a:lnSpc>
              <a:spcBef>
                <a:spcPts val="385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sz="2750" b="1" spc="125" dirty="0">
                <a:latin typeface="Calibri"/>
                <a:cs typeface="Calibri"/>
              </a:rPr>
              <a:t>	Application:</a:t>
            </a:r>
            <a:r>
              <a:rPr sz="2750" b="1" spc="15" dirty="0">
                <a:latin typeface="Calibri"/>
                <a:cs typeface="Calibri"/>
              </a:rPr>
              <a:t> </a:t>
            </a:r>
            <a:r>
              <a:rPr sz="2750" spc="90" dirty="0">
                <a:latin typeface="Calibri"/>
                <a:cs typeface="Calibri"/>
              </a:rPr>
              <a:t>This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120" dirty="0">
                <a:latin typeface="Calibri"/>
                <a:cs typeface="Calibri"/>
              </a:rPr>
              <a:t>system</a:t>
            </a:r>
            <a:r>
              <a:rPr sz="2750" spc="-15" dirty="0">
                <a:latin typeface="Calibri"/>
                <a:cs typeface="Calibri"/>
              </a:rPr>
              <a:t> </a:t>
            </a:r>
            <a:r>
              <a:rPr sz="2750" spc="125" dirty="0">
                <a:latin typeface="Calibri"/>
                <a:cs typeface="Calibri"/>
              </a:rPr>
              <a:t>serves</a:t>
            </a:r>
            <a:r>
              <a:rPr sz="2750" spc="35" dirty="0">
                <a:latin typeface="Calibri"/>
                <a:cs typeface="Calibri"/>
              </a:rPr>
              <a:t> </a:t>
            </a:r>
            <a:r>
              <a:rPr sz="2750" spc="220" dirty="0">
                <a:latin typeface="Calibri"/>
                <a:cs typeface="Calibri"/>
              </a:rPr>
              <a:t>as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155" dirty="0">
                <a:latin typeface="Calibri"/>
                <a:cs typeface="Calibri"/>
              </a:rPr>
              <a:t>a</a:t>
            </a:r>
            <a:r>
              <a:rPr sz="2750" spc="-20" dirty="0">
                <a:latin typeface="Calibri"/>
                <a:cs typeface="Calibri"/>
              </a:rPr>
              <a:t> </a:t>
            </a:r>
            <a:r>
              <a:rPr sz="2750" spc="90" dirty="0">
                <a:latin typeface="Calibri"/>
                <a:cs typeface="Calibri"/>
              </a:rPr>
              <a:t>functional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prototype</a:t>
            </a:r>
            <a:r>
              <a:rPr sz="2750" spc="-5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for </a:t>
            </a:r>
            <a:r>
              <a:rPr sz="2750" spc="150" dirty="0">
                <a:latin typeface="Calibri"/>
                <a:cs typeface="Calibri"/>
              </a:rPr>
              <a:t>small-</a:t>
            </a:r>
            <a:r>
              <a:rPr sz="2750" spc="160" dirty="0">
                <a:latin typeface="Calibri"/>
                <a:cs typeface="Calibri"/>
              </a:rPr>
              <a:t>scale,</a:t>
            </a:r>
            <a:r>
              <a:rPr sz="2750" spc="-40" dirty="0">
                <a:latin typeface="Calibri"/>
                <a:cs typeface="Calibri"/>
              </a:rPr>
              <a:t> </a:t>
            </a:r>
            <a:r>
              <a:rPr sz="2750" spc="85" dirty="0">
                <a:latin typeface="Calibri"/>
                <a:cs typeface="Calibri"/>
              </a:rPr>
              <a:t>non-</a:t>
            </a:r>
            <a:r>
              <a:rPr sz="2750" spc="100" dirty="0">
                <a:latin typeface="Calibri"/>
                <a:cs typeface="Calibri"/>
              </a:rPr>
              <a:t>critical</a:t>
            </a:r>
            <a:r>
              <a:rPr sz="2750" spc="-50" dirty="0">
                <a:latin typeface="Calibri"/>
                <a:cs typeface="Calibri"/>
              </a:rPr>
              <a:t> </a:t>
            </a:r>
            <a:r>
              <a:rPr sz="2750" spc="70" dirty="0">
                <a:latin typeface="Calibri"/>
                <a:cs typeface="Calibri"/>
              </a:rPr>
              <a:t>environments</a:t>
            </a:r>
            <a:r>
              <a:rPr sz="2750" spc="10" dirty="0">
                <a:latin typeface="Calibri"/>
                <a:cs typeface="Calibri"/>
              </a:rPr>
              <a:t> </a:t>
            </a:r>
            <a:r>
              <a:rPr sz="2750" spc="55" dirty="0">
                <a:latin typeface="Calibri"/>
                <a:cs typeface="Calibri"/>
              </a:rPr>
              <a:t>(e.g.,</a:t>
            </a:r>
            <a:r>
              <a:rPr sz="2750" spc="-40" dirty="0">
                <a:latin typeface="Calibri"/>
                <a:cs typeface="Calibri"/>
              </a:rPr>
              <a:t> </a:t>
            </a:r>
            <a:r>
              <a:rPr sz="2750" spc="80" dirty="0">
                <a:latin typeface="Calibri"/>
                <a:cs typeface="Calibri"/>
              </a:rPr>
              <a:t>hobbyist</a:t>
            </a:r>
            <a:r>
              <a:rPr sz="2750" spc="-70" dirty="0">
                <a:latin typeface="Calibri"/>
                <a:cs typeface="Calibri"/>
              </a:rPr>
              <a:t> </a:t>
            </a:r>
            <a:r>
              <a:rPr sz="2750" spc="85" dirty="0">
                <a:latin typeface="Calibri"/>
                <a:cs typeface="Calibri"/>
              </a:rPr>
              <a:t>projects, </a:t>
            </a:r>
            <a:r>
              <a:rPr sz="2750" spc="160" dirty="0">
                <a:latin typeface="Calibri"/>
                <a:cs typeface="Calibri"/>
              </a:rPr>
              <a:t>academic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spc="60" dirty="0">
                <a:latin typeface="Calibri"/>
                <a:cs typeface="Calibri"/>
              </a:rPr>
              <a:t>demonstration)</a:t>
            </a:r>
            <a:r>
              <a:rPr sz="2750" spc="4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or </a:t>
            </a:r>
            <a:r>
              <a:rPr sz="2750" spc="220" dirty="0">
                <a:latin typeface="Calibri"/>
                <a:cs typeface="Calibri"/>
              </a:rPr>
              <a:t>as</a:t>
            </a:r>
            <a:r>
              <a:rPr sz="2750" spc="-50" dirty="0">
                <a:latin typeface="Calibri"/>
                <a:cs typeface="Calibri"/>
              </a:rPr>
              <a:t> </a:t>
            </a:r>
            <a:r>
              <a:rPr sz="2750" spc="155" dirty="0">
                <a:latin typeface="Calibri"/>
                <a:cs typeface="Calibri"/>
              </a:rPr>
              <a:t>a</a:t>
            </a:r>
            <a:r>
              <a:rPr sz="2750" spc="5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tertiary</a:t>
            </a:r>
            <a:r>
              <a:rPr sz="2750" spc="-35" dirty="0">
                <a:latin typeface="Calibri"/>
                <a:cs typeface="Calibri"/>
              </a:rPr>
              <a:t> </a:t>
            </a:r>
            <a:r>
              <a:rPr sz="2750" spc="60" dirty="0">
                <a:latin typeface="Calibri"/>
                <a:cs typeface="Calibri"/>
              </a:rPr>
              <a:t>alert</a:t>
            </a:r>
            <a:r>
              <a:rPr sz="2750" spc="35" dirty="0">
                <a:latin typeface="Calibri"/>
                <a:cs typeface="Calibri"/>
              </a:rPr>
              <a:t> </a:t>
            </a:r>
            <a:r>
              <a:rPr sz="2750" spc="125" dirty="0">
                <a:latin typeface="Calibri"/>
                <a:cs typeface="Calibri"/>
              </a:rPr>
              <a:t>mechanism.</a:t>
            </a:r>
            <a:endParaRPr sz="2750" dirty="0">
              <a:latin typeface="Calibri"/>
              <a:cs typeface="Calibri"/>
            </a:endParaRPr>
          </a:p>
          <a:p>
            <a:pPr marL="241300" marR="5080" indent="-229235">
              <a:lnSpc>
                <a:spcPts val="3000"/>
              </a:lnSpc>
              <a:spcBef>
                <a:spcPts val="1105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sz="2750" b="1" spc="170" dirty="0">
                <a:latin typeface="Calibri"/>
                <a:cs typeface="Calibri"/>
              </a:rPr>
              <a:t>	Critical</a:t>
            </a:r>
            <a:r>
              <a:rPr sz="2750" b="1" dirty="0">
                <a:latin typeface="Calibri"/>
                <a:cs typeface="Calibri"/>
              </a:rPr>
              <a:t> </a:t>
            </a:r>
            <a:r>
              <a:rPr sz="2750" b="1" spc="110" dirty="0">
                <a:latin typeface="Calibri"/>
                <a:cs typeface="Calibri"/>
              </a:rPr>
              <a:t>Limitation:</a:t>
            </a:r>
            <a:r>
              <a:rPr sz="2750" b="1" spc="50" dirty="0">
                <a:latin typeface="Calibri"/>
                <a:cs typeface="Calibri"/>
              </a:rPr>
              <a:t> </a:t>
            </a:r>
            <a:r>
              <a:rPr sz="2750" spc="85" dirty="0">
                <a:latin typeface="Calibri"/>
                <a:cs typeface="Calibri"/>
              </a:rPr>
              <a:t>Dry</a:t>
            </a:r>
            <a:r>
              <a:rPr sz="2750" spc="-50" dirty="0">
                <a:latin typeface="Calibri"/>
                <a:cs typeface="Calibri"/>
              </a:rPr>
              <a:t> </a:t>
            </a:r>
            <a:r>
              <a:rPr sz="2750" spc="140" dirty="0">
                <a:latin typeface="Calibri"/>
                <a:cs typeface="Calibri"/>
              </a:rPr>
              <a:t>Run</a:t>
            </a:r>
            <a:r>
              <a:rPr sz="2750" spc="-25" dirty="0">
                <a:latin typeface="Calibri"/>
                <a:cs typeface="Calibri"/>
              </a:rPr>
              <a:t> </a:t>
            </a:r>
            <a:r>
              <a:rPr sz="2750" spc="135" dirty="0">
                <a:latin typeface="Calibri"/>
                <a:cs typeface="Calibri"/>
              </a:rPr>
              <a:t>Risk:</a:t>
            </a:r>
            <a:r>
              <a:rPr sz="2750" spc="-4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The</a:t>
            </a:r>
            <a:r>
              <a:rPr sz="2750" spc="40" dirty="0">
                <a:latin typeface="Calibri"/>
                <a:cs typeface="Calibri"/>
              </a:rPr>
              <a:t> </a:t>
            </a:r>
            <a:r>
              <a:rPr sz="2750" spc="65" dirty="0">
                <a:latin typeface="Calibri"/>
                <a:cs typeface="Calibri"/>
              </a:rPr>
              <a:t>current</a:t>
            </a:r>
            <a:r>
              <a:rPr sz="2750" spc="10" dirty="0">
                <a:latin typeface="Calibri"/>
                <a:cs typeface="Calibri"/>
              </a:rPr>
              <a:t> </a:t>
            </a:r>
            <a:r>
              <a:rPr sz="2750" spc="95" dirty="0">
                <a:latin typeface="Calibri"/>
                <a:cs typeface="Calibri"/>
              </a:rPr>
              <a:t>design</a:t>
            </a:r>
            <a:r>
              <a:rPr sz="2750" spc="55" dirty="0">
                <a:latin typeface="Calibri"/>
                <a:cs typeface="Calibri"/>
              </a:rPr>
              <a:t> </a:t>
            </a:r>
            <a:r>
              <a:rPr sz="2750" spc="165" dirty="0">
                <a:latin typeface="Calibri"/>
                <a:cs typeface="Calibri"/>
              </a:rPr>
              <a:t>lacks</a:t>
            </a:r>
            <a:r>
              <a:rPr sz="2750" spc="5" dirty="0">
                <a:latin typeface="Calibri"/>
                <a:cs typeface="Calibri"/>
              </a:rPr>
              <a:t> </a:t>
            </a:r>
            <a:r>
              <a:rPr sz="2750" spc="60" dirty="0">
                <a:latin typeface="Calibri"/>
                <a:cs typeface="Calibri"/>
              </a:rPr>
              <a:t>Dry </a:t>
            </a:r>
            <a:r>
              <a:rPr sz="2750" spc="140" dirty="0">
                <a:latin typeface="Calibri"/>
                <a:cs typeface="Calibri"/>
              </a:rPr>
              <a:t>Run</a:t>
            </a:r>
            <a:r>
              <a:rPr sz="2750" spc="-35" dirty="0">
                <a:latin typeface="Calibri"/>
                <a:cs typeface="Calibri"/>
              </a:rPr>
              <a:t> </a:t>
            </a:r>
            <a:r>
              <a:rPr sz="2750" spc="70" dirty="0">
                <a:latin typeface="Calibri"/>
                <a:cs typeface="Calibri"/>
              </a:rPr>
              <a:t>Protection.</a:t>
            </a:r>
            <a:r>
              <a:rPr sz="2750" spc="-40" dirty="0">
                <a:latin typeface="Calibri"/>
                <a:cs typeface="Calibri"/>
              </a:rPr>
              <a:t> </a:t>
            </a:r>
            <a:r>
              <a:rPr sz="2750" spc="60" dirty="0">
                <a:latin typeface="Calibri"/>
                <a:cs typeface="Calibri"/>
              </a:rPr>
              <a:t>Operating</a:t>
            </a:r>
            <a:r>
              <a:rPr sz="2750" spc="10" dirty="0">
                <a:latin typeface="Calibri"/>
                <a:cs typeface="Calibri"/>
              </a:rPr>
              <a:t> </a:t>
            </a:r>
            <a:r>
              <a:rPr sz="2750" spc="55" dirty="0">
                <a:latin typeface="Calibri"/>
                <a:cs typeface="Calibri"/>
              </a:rPr>
              <a:t>the</a:t>
            </a:r>
            <a:r>
              <a:rPr sz="2750" spc="-40" dirty="0">
                <a:latin typeface="Calibri"/>
                <a:cs typeface="Calibri"/>
              </a:rPr>
              <a:t> </a:t>
            </a:r>
            <a:r>
              <a:rPr sz="2750" spc="70" dirty="0">
                <a:latin typeface="Calibri"/>
                <a:cs typeface="Calibri"/>
              </a:rPr>
              <a:t>5V</a:t>
            </a:r>
            <a:r>
              <a:rPr sz="2750" spc="-50" dirty="0">
                <a:latin typeface="Calibri"/>
                <a:cs typeface="Calibri"/>
              </a:rPr>
              <a:t> </a:t>
            </a:r>
            <a:r>
              <a:rPr sz="2750" spc="345" dirty="0">
                <a:latin typeface="Calibri"/>
                <a:cs typeface="Calibri"/>
              </a:rPr>
              <a:t>DC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spc="110" dirty="0">
                <a:latin typeface="Calibri"/>
                <a:cs typeface="Calibri"/>
              </a:rPr>
              <a:t>pump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45" dirty="0">
                <a:latin typeface="Calibri"/>
                <a:cs typeface="Calibri"/>
              </a:rPr>
              <a:t>without</a:t>
            </a:r>
            <a:r>
              <a:rPr sz="2750" spc="-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water</a:t>
            </a:r>
            <a:r>
              <a:rPr sz="2750" spc="-30" dirty="0">
                <a:latin typeface="Calibri"/>
                <a:cs typeface="Calibri"/>
              </a:rPr>
              <a:t> </a:t>
            </a:r>
            <a:r>
              <a:rPr sz="2750" spc="55" dirty="0">
                <a:latin typeface="Calibri"/>
                <a:cs typeface="Calibri"/>
              </a:rPr>
              <a:t>will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spc="90" dirty="0">
                <a:latin typeface="Calibri"/>
                <a:cs typeface="Calibri"/>
              </a:rPr>
              <a:t>lead </a:t>
            </a:r>
            <a:r>
              <a:rPr sz="2750" dirty="0">
                <a:latin typeface="Calibri"/>
                <a:cs typeface="Calibri"/>
              </a:rPr>
              <a:t>to</a:t>
            </a:r>
            <a:r>
              <a:rPr sz="2750" spc="-40" dirty="0">
                <a:latin typeface="Calibri"/>
                <a:cs typeface="Calibri"/>
              </a:rPr>
              <a:t> </a:t>
            </a:r>
            <a:r>
              <a:rPr sz="2750" spc="55" dirty="0">
                <a:latin typeface="Calibri"/>
                <a:cs typeface="Calibri"/>
              </a:rPr>
              <a:t>rapid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45" dirty="0">
                <a:latin typeface="Calibri"/>
                <a:cs typeface="Calibri"/>
              </a:rPr>
              <a:t>overheating</a:t>
            </a:r>
            <a:r>
              <a:rPr sz="2750" dirty="0">
                <a:latin typeface="Calibri"/>
                <a:cs typeface="Calibri"/>
              </a:rPr>
              <a:t> </a:t>
            </a:r>
            <a:r>
              <a:rPr sz="2750" spc="105" dirty="0">
                <a:latin typeface="Calibri"/>
                <a:cs typeface="Calibri"/>
              </a:rPr>
              <a:t>and</a:t>
            </a:r>
            <a:r>
              <a:rPr sz="2750" spc="20" dirty="0">
                <a:latin typeface="Calibri"/>
                <a:cs typeface="Calibri"/>
              </a:rPr>
              <a:t> </a:t>
            </a:r>
            <a:r>
              <a:rPr sz="2750" spc="145" dirty="0">
                <a:latin typeface="Calibri"/>
                <a:cs typeface="Calibri"/>
              </a:rPr>
              <a:t>mechanical</a:t>
            </a:r>
            <a:r>
              <a:rPr sz="2750" spc="-55" dirty="0">
                <a:latin typeface="Calibri"/>
                <a:cs typeface="Calibri"/>
              </a:rPr>
              <a:t> </a:t>
            </a:r>
            <a:r>
              <a:rPr sz="2750" spc="35" dirty="0">
                <a:latin typeface="Calibri"/>
                <a:cs typeface="Calibri"/>
              </a:rPr>
              <a:t>failure.</a:t>
            </a:r>
            <a:endParaRPr sz="2750" dirty="0">
              <a:latin typeface="Calibri"/>
              <a:cs typeface="Calibri"/>
            </a:endParaRPr>
          </a:p>
          <a:p>
            <a:pPr marL="241300" marR="96520" indent="-229235">
              <a:lnSpc>
                <a:spcPct val="91000"/>
              </a:lnSpc>
              <a:spcBef>
                <a:spcPts val="1015"/>
              </a:spcBef>
              <a:buSzPct val="96363"/>
              <a:buFont typeface="Wingdings"/>
              <a:buChar char=""/>
              <a:tabLst>
                <a:tab pos="241300" algn="l"/>
                <a:tab pos="294640" algn="l"/>
              </a:tabLst>
            </a:pPr>
            <a:r>
              <a:rPr sz="2750" b="1" spc="114" dirty="0">
                <a:latin typeface="Calibri"/>
                <a:cs typeface="Calibri"/>
              </a:rPr>
              <a:t>	Future</a:t>
            </a:r>
            <a:r>
              <a:rPr sz="2750" b="1" spc="-5" dirty="0">
                <a:latin typeface="Calibri"/>
                <a:cs typeface="Calibri"/>
              </a:rPr>
              <a:t> </a:t>
            </a:r>
            <a:r>
              <a:rPr sz="2750" b="1" spc="229" dirty="0">
                <a:latin typeface="Calibri"/>
                <a:cs typeface="Calibri"/>
              </a:rPr>
              <a:t>Scope</a:t>
            </a:r>
            <a:r>
              <a:rPr sz="2750" b="1" spc="75" dirty="0">
                <a:latin typeface="Calibri"/>
                <a:cs typeface="Calibri"/>
              </a:rPr>
              <a:t> </a:t>
            </a:r>
            <a:r>
              <a:rPr sz="2750" b="1" spc="65" dirty="0">
                <a:latin typeface="Calibri"/>
                <a:cs typeface="Calibri"/>
              </a:rPr>
              <a:t>:</a:t>
            </a:r>
            <a:r>
              <a:rPr sz="2750" b="1" spc="7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Integrating</a:t>
            </a:r>
            <a:r>
              <a:rPr sz="2750" spc="50" dirty="0">
                <a:latin typeface="Calibri"/>
                <a:cs typeface="Calibri"/>
              </a:rPr>
              <a:t> </a:t>
            </a:r>
            <a:r>
              <a:rPr sz="2750" spc="85" dirty="0">
                <a:latin typeface="Calibri"/>
                <a:cs typeface="Calibri"/>
              </a:rPr>
              <a:t>persistent,</a:t>
            </a:r>
            <a:r>
              <a:rPr sz="2750" spc="-5" dirty="0">
                <a:latin typeface="Calibri"/>
                <a:cs typeface="Calibri"/>
              </a:rPr>
              <a:t> </a:t>
            </a:r>
            <a:r>
              <a:rPr sz="2750" spc="95" dirty="0">
                <a:latin typeface="Calibri"/>
                <a:cs typeface="Calibri"/>
              </a:rPr>
              <a:t>non-</a:t>
            </a:r>
            <a:r>
              <a:rPr sz="2750" spc="60" dirty="0">
                <a:latin typeface="Calibri"/>
                <a:cs typeface="Calibri"/>
              </a:rPr>
              <a:t>volatile</a:t>
            </a:r>
            <a:r>
              <a:rPr sz="2750" spc="5" dirty="0">
                <a:latin typeface="Calibri"/>
                <a:cs typeface="Calibri"/>
              </a:rPr>
              <a:t> </a:t>
            </a:r>
            <a:r>
              <a:rPr sz="2750" spc="75" dirty="0">
                <a:latin typeface="Calibri"/>
                <a:cs typeface="Calibri"/>
              </a:rPr>
              <a:t>memory </a:t>
            </a:r>
            <a:r>
              <a:rPr sz="2750" spc="114" dirty="0">
                <a:latin typeface="Calibri"/>
                <a:cs typeface="Calibri"/>
              </a:rPr>
              <a:t>(EEPROM</a:t>
            </a:r>
            <a:r>
              <a:rPr sz="2750" spc="-2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or</a:t>
            </a:r>
            <a:r>
              <a:rPr sz="2750" spc="-30" dirty="0">
                <a:latin typeface="Calibri"/>
                <a:cs typeface="Calibri"/>
              </a:rPr>
              <a:t> </a:t>
            </a:r>
            <a:r>
              <a:rPr sz="2750" spc="245" dirty="0">
                <a:latin typeface="Calibri"/>
                <a:cs typeface="Calibri"/>
              </a:rPr>
              <a:t>SD</a:t>
            </a:r>
            <a:r>
              <a:rPr sz="2750" spc="-35" dirty="0">
                <a:latin typeface="Calibri"/>
                <a:cs typeface="Calibri"/>
              </a:rPr>
              <a:t> </a:t>
            </a:r>
            <a:r>
              <a:rPr sz="2750" spc="90" dirty="0">
                <a:latin typeface="Calibri"/>
                <a:cs typeface="Calibri"/>
              </a:rPr>
              <a:t>card)</a:t>
            </a:r>
            <a:r>
              <a:rPr sz="2750" spc="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to</a:t>
            </a:r>
            <a:r>
              <a:rPr sz="2750" spc="-40" dirty="0">
                <a:latin typeface="Calibri"/>
                <a:cs typeface="Calibri"/>
              </a:rPr>
              <a:t> </a:t>
            </a:r>
            <a:r>
              <a:rPr sz="2750" spc="85" dirty="0">
                <a:latin typeface="Calibri"/>
                <a:cs typeface="Calibri"/>
              </a:rPr>
              <a:t>log</a:t>
            </a:r>
            <a:r>
              <a:rPr sz="2750" spc="-7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fire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spc="80" dirty="0">
                <a:latin typeface="Calibri"/>
                <a:cs typeface="Calibri"/>
              </a:rPr>
              <a:t>events</a:t>
            </a:r>
            <a:r>
              <a:rPr sz="2750" dirty="0">
                <a:latin typeface="Calibri"/>
                <a:cs typeface="Calibri"/>
              </a:rPr>
              <a:t> </a:t>
            </a:r>
            <a:r>
              <a:rPr sz="2750" spc="105" dirty="0">
                <a:latin typeface="Calibri"/>
                <a:cs typeface="Calibri"/>
              </a:rPr>
              <a:t>and</a:t>
            </a:r>
            <a:r>
              <a:rPr sz="2750" spc="15" dirty="0">
                <a:latin typeface="Calibri"/>
                <a:cs typeface="Calibri"/>
              </a:rPr>
              <a:t> </a:t>
            </a:r>
            <a:r>
              <a:rPr sz="2750" spc="140" dirty="0">
                <a:latin typeface="Calibri"/>
                <a:cs typeface="Calibri"/>
              </a:rPr>
              <a:t>SMS</a:t>
            </a:r>
            <a:r>
              <a:rPr sz="2750" dirty="0">
                <a:latin typeface="Calibri"/>
                <a:cs typeface="Calibri"/>
              </a:rPr>
              <a:t> </a:t>
            </a:r>
            <a:r>
              <a:rPr sz="2750" spc="120" dirty="0">
                <a:latin typeface="Calibri"/>
                <a:cs typeface="Calibri"/>
              </a:rPr>
              <a:t>transmissions</a:t>
            </a:r>
            <a:r>
              <a:rPr sz="2750" spc="-10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for </a:t>
            </a:r>
            <a:r>
              <a:rPr sz="2750" spc="120" dirty="0">
                <a:latin typeface="Calibri"/>
                <a:cs typeface="Calibri"/>
              </a:rPr>
              <a:t>enhanced</a:t>
            </a:r>
            <a:r>
              <a:rPr sz="2750" spc="5" dirty="0">
                <a:latin typeface="Calibri"/>
                <a:cs typeface="Calibri"/>
              </a:rPr>
              <a:t> </a:t>
            </a:r>
            <a:r>
              <a:rPr sz="2750" spc="65" dirty="0">
                <a:latin typeface="Calibri"/>
                <a:cs typeface="Calibri"/>
              </a:rPr>
              <a:t>auditing</a:t>
            </a:r>
            <a:r>
              <a:rPr sz="2750" dirty="0">
                <a:latin typeface="Calibri"/>
                <a:cs typeface="Calibri"/>
              </a:rPr>
              <a:t> </a:t>
            </a:r>
            <a:r>
              <a:rPr sz="2750" spc="95" dirty="0">
                <a:latin typeface="Calibri"/>
                <a:cs typeface="Calibri"/>
              </a:rPr>
              <a:t>capabilities.</a:t>
            </a:r>
            <a:endParaRPr sz="27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5" y="152400"/>
            <a:ext cx="10353762" cy="9704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165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447800"/>
            <a:ext cx="10969625" cy="4655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15"/>
              </a:lnSpc>
              <a:spcBef>
                <a:spcPts val="100"/>
              </a:spcBef>
            </a:pPr>
            <a:r>
              <a:rPr sz="2400" spc="70" dirty="0">
                <a:latin typeface="Calibri"/>
                <a:cs typeface="Calibri"/>
              </a:rPr>
              <a:t>This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prototype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95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constrained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its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90" dirty="0">
                <a:latin typeface="Calibri"/>
                <a:cs typeface="Calibri"/>
              </a:rPr>
              <a:t>components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85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13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compliant</a:t>
            </a:r>
            <a:endParaRPr sz="2400" dirty="0">
              <a:latin typeface="Calibri"/>
              <a:cs typeface="Calibri"/>
            </a:endParaRPr>
          </a:p>
          <a:p>
            <a:pPr marL="12700" marR="899160">
              <a:lnSpc>
                <a:spcPct val="91300"/>
              </a:lnSpc>
              <a:spcBef>
                <a:spcPts val="90"/>
              </a:spcBef>
            </a:pPr>
            <a:r>
              <a:rPr sz="2400" dirty="0">
                <a:latin typeface="Calibri"/>
                <a:cs typeface="Calibri"/>
              </a:rPr>
              <a:t>with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industrial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regulatory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safety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85" dirty="0">
                <a:latin typeface="Calibri"/>
                <a:cs typeface="Calibri"/>
              </a:rPr>
              <a:t>standards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95" dirty="0">
                <a:latin typeface="Calibri"/>
                <a:cs typeface="Calibri"/>
              </a:rPr>
              <a:t>NFPA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or </a:t>
            </a:r>
            <a:r>
              <a:rPr sz="2400" spc="120" dirty="0">
                <a:latin typeface="Calibri"/>
                <a:cs typeface="Calibri"/>
              </a:rPr>
              <a:t>OSHA).</a:t>
            </a:r>
            <a:r>
              <a:rPr sz="2400" spc="56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Professional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100" dirty="0">
                <a:latin typeface="Calibri"/>
                <a:cs typeface="Calibri"/>
              </a:rPr>
              <a:t>systems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require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certified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85" dirty="0">
                <a:latin typeface="Calibri"/>
                <a:cs typeface="Calibri"/>
              </a:rPr>
              <a:t>components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and </a:t>
            </a:r>
            <a:r>
              <a:rPr sz="2400" spc="70" dirty="0">
                <a:latin typeface="Calibri"/>
                <a:cs typeface="Calibri"/>
              </a:rPr>
              <a:t>mandated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annual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inspections.</a:t>
            </a:r>
            <a:endParaRPr sz="2400" dirty="0">
              <a:latin typeface="Calibri"/>
              <a:cs typeface="Calibri"/>
            </a:endParaRPr>
          </a:p>
          <a:p>
            <a:pPr marL="241300" marR="765175" indent="-231140">
              <a:lnSpc>
                <a:spcPts val="2630"/>
              </a:lnSpc>
              <a:spcBef>
                <a:spcPts val="944"/>
              </a:spcBef>
              <a:buSzPct val="95833"/>
              <a:buFont typeface="Wingdings"/>
              <a:buChar char=""/>
              <a:tabLst>
                <a:tab pos="241300" algn="l"/>
                <a:tab pos="254635" algn="l"/>
              </a:tabLst>
            </a:pPr>
            <a:r>
              <a:rPr sz="2400" b="1" spc="95" dirty="0">
                <a:latin typeface="Calibri"/>
                <a:cs typeface="Calibri"/>
              </a:rPr>
              <a:t>	Key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145" dirty="0">
                <a:latin typeface="Calibri"/>
                <a:cs typeface="Calibri"/>
              </a:rPr>
              <a:t>Conclusion:</a:t>
            </a:r>
            <a:r>
              <a:rPr sz="2400" b="1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project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120" dirty="0">
                <a:latin typeface="Calibri"/>
                <a:cs typeface="Calibri"/>
              </a:rPr>
              <a:t>successfully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engineered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spc="114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stable, </a:t>
            </a:r>
            <a:r>
              <a:rPr sz="2400" spc="55" dirty="0">
                <a:latin typeface="Calibri"/>
                <a:cs typeface="Calibri"/>
              </a:rPr>
              <a:t>functional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prototype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employing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spc="100" dirty="0">
                <a:latin typeface="Calibri"/>
                <a:cs typeface="Calibri"/>
              </a:rPr>
              <a:t>crucial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design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principles:</a:t>
            </a:r>
            <a:endParaRPr sz="2400" dirty="0">
              <a:latin typeface="Calibri"/>
              <a:cs typeface="Calibri"/>
            </a:endParaRPr>
          </a:p>
          <a:p>
            <a:pPr marL="198755" marR="2450465">
              <a:lnSpc>
                <a:spcPts val="3600"/>
              </a:lnSpc>
              <a:spcBef>
                <a:spcPts val="200"/>
              </a:spcBef>
            </a:pPr>
            <a:r>
              <a:rPr sz="2400" spc="95" dirty="0">
                <a:latin typeface="Calibri"/>
                <a:cs typeface="Calibri"/>
              </a:rPr>
              <a:t>Dual-Sensor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85" dirty="0">
                <a:latin typeface="Calibri"/>
                <a:cs typeface="Calibri"/>
              </a:rPr>
              <a:t>Fusion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confirmed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detection. </a:t>
            </a:r>
            <a:r>
              <a:rPr sz="2400" spc="95" dirty="0">
                <a:latin typeface="Calibri"/>
                <a:cs typeface="Calibri"/>
              </a:rPr>
              <a:t>Dual-</a:t>
            </a:r>
            <a:r>
              <a:rPr sz="2400" spc="80" dirty="0">
                <a:latin typeface="Calibri"/>
                <a:cs typeface="Calibri"/>
              </a:rPr>
              <a:t>Supply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Power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Isolation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electrical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stability.</a:t>
            </a:r>
            <a:endParaRPr sz="2400" dirty="0">
              <a:latin typeface="Calibri"/>
              <a:cs typeface="Calibri"/>
            </a:endParaRPr>
          </a:p>
          <a:p>
            <a:pPr marL="198755">
              <a:lnSpc>
                <a:spcPct val="100000"/>
              </a:lnSpc>
              <a:spcBef>
                <a:spcPts val="489"/>
              </a:spcBef>
            </a:pPr>
            <a:r>
              <a:rPr sz="2400" spc="105" dirty="0">
                <a:latin typeface="Calibri"/>
                <a:cs typeface="Calibri"/>
              </a:rPr>
              <a:t>Flyback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Diode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Protection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inductive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load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management.</a:t>
            </a:r>
            <a:endParaRPr sz="2400" dirty="0">
              <a:latin typeface="Calibri"/>
              <a:cs typeface="Calibri"/>
            </a:endParaRPr>
          </a:p>
          <a:p>
            <a:pPr marL="241300" marR="5080" indent="-231140">
              <a:lnSpc>
                <a:spcPct val="89900"/>
              </a:lnSpc>
              <a:spcBef>
                <a:spcPts val="1015"/>
              </a:spcBef>
              <a:buSzPct val="95833"/>
              <a:buFont typeface="Wingdings"/>
              <a:buChar char=""/>
              <a:tabLst>
                <a:tab pos="241300" algn="l"/>
                <a:tab pos="254635" algn="l"/>
              </a:tabLst>
            </a:pPr>
            <a:r>
              <a:rPr sz="2400" b="1" spc="85" dirty="0">
                <a:latin typeface="Calibri"/>
                <a:cs typeface="Calibri"/>
              </a:rPr>
              <a:t>	Overall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95" dirty="0">
                <a:latin typeface="Calibri"/>
                <a:cs typeface="Calibri"/>
              </a:rPr>
              <a:t>Achievement:</a:t>
            </a:r>
            <a:r>
              <a:rPr sz="2400" b="1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reliable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foundation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automated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fire </a:t>
            </a:r>
            <a:r>
              <a:rPr sz="2400" spc="55" dirty="0">
                <a:latin typeface="Calibri"/>
                <a:cs typeface="Calibri"/>
              </a:rPr>
              <a:t>detection,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alert,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and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suppression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spc="114" dirty="0">
                <a:latin typeface="Calibri"/>
                <a:cs typeface="Calibri"/>
              </a:rPr>
              <a:t>has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been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established,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ready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spc="75" dirty="0">
                <a:latin typeface="Calibri"/>
                <a:cs typeface="Calibri"/>
              </a:rPr>
              <a:t>critical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addition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protection.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7544" y="37147"/>
            <a:ext cx="297751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90" dirty="0"/>
              <a:t>References</a:t>
            </a:r>
            <a:endParaRPr sz="4800" dirty="0"/>
          </a:p>
        </p:txBody>
      </p:sp>
      <p:sp>
        <p:nvSpPr>
          <p:cNvPr id="3" name="object 3"/>
          <p:cNvSpPr txBox="1"/>
          <p:nvPr/>
        </p:nvSpPr>
        <p:spPr>
          <a:xfrm>
            <a:off x="228600" y="990600"/>
            <a:ext cx="11478260" cy="525336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b="1" spc="110" dirty="0">
                <a:latin typeface="Calibri"/>
                <a:cs typeface="Calibri"/>
              </a:rPr>
              <a:t>Cited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spc="75" dirty="0">
                <a:latin typeface="Calibri"/>
                <a:cs typeface="Calibri"/>
              </a:rPr>
              <a:t>Works</a:t>
            </a:r>
            <a:r>
              <a:rPr b="1" spc="15" dirty="0">
                <a:latin typeface="Calibri"/>
                <a:cs typeface="Calibri"/>
              </a:rPr>
              <a:t> </a:t>
            </a:r>
            <a:r>
              <a:rPr b="1" spc="90" dirty="0">
                <a:latin typeface="Calibri"/>
                <a:cs typeface="Calibri"/>
              </a:rPr>
              <a:t>and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spc="120" dirty="0">
                <a:latin typeface="Calibri"/>
                <a:cs typeface="Calibri"/>
              </a:rPr>
              <a:t>Research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b="1" spc="40" dirty="0">
                <a:latin typeface="Calibri"/>
                <a:cs typeface="Calibri"/>
              </a:rPr>
              <a:t>Material</a:t>
            </a:r>
            <a:endParaRPr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240665" algn="l"/>
              </a:tabLst>
            </a:pPr>
            <a:r>
              <a:rPr dirty="0">
                <a:latin typeface="Calibri"/>
                <a:cs typeface="Calibri"/>
              </a:rPr>
              <a:t>[1]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85" dirty="0">
                <a:latin typeface="Calibri"/>
                <a:cs typeface="Calibri"/>
              </a:rPr>
              <a:t>Pushpa,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Kumar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70" dirty="0">
                <a:latin typeface="Calibri"/>
                <a:cs typeface="Calibri"/>
              </a:rPr>
              <a:t>and.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60" dirty="0">
                <a:latin typeface="Calibri"/>
                <a:cs typeface="Calibri"/>
              </a:rPr>
              <a:t>Bhulaxmi,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50" dirty="0">
                <a:latin typeface="Calibri"/>
                <a:cs typeface="Calibri"/>
              </a:rPr>
              <a:t>2020.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100" dirty="0">
                <a:latin typeface="Calibri"/>
                <a:cs typeface="Calibri"/>
              </a:rPr>
              <a:t>Block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50" dirty="0">
                <a:latin typeface="Calibri"/>
                <a:cs typeface="Calibri"/>
              </a:rPr>
              <a:t>diagram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fire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45" dirty="0">
                <a:latin typeface="Calibri"/>
                <a:cs typeface="Calibri"/>
              </a:rPr>
              <a:t>detecting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90" dirty="0">
                <a:latin typeface="Calibri"/>
                <a:cs typeface="Calibri"/>
              </a:rPr>
              <a:t>System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library.</a:t>
            </a:r>
            <a:endParaRPr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240665" algn="l"/>
              </a:tabLst>
            </a:pPr>
            <a:r>
              <a:rPr dirty="0">
                <a:latin typeface="Calibri"/>
                <a:cs typeface="Calibri"/>
              </a:rPr>
              <a:t>[2]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75" dirty="0">
                <a:latin typeface="Calibri"/>
                <a:cs typeface="Calibri"/>
              </a:rPr>
              <a:t>Circuit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60" dirty="0">
                <a:latin typeface="Calibri"/>
                <a:cs typeface="Calibri"/>
              </a:rPr>
              <a:t>Digest,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spc="85" dirty="0">
                <a:latin typeface="Calibri"/>
                <a:cs typeface="Calibri"/>
              </a:rPr>
              <a:t>How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60" dirty="0">
                <a:latin typeface="Calibri"/>
                <a:cs typeface="Calibri"/>
              </a:rPr>
              <a:t>Build</a:t>
            </a:r>
            <a:r>
              <a:rPr spc="40" dirty="0">
                <a:latin typeface="Calibri"/>
                <a:cs typeface="Calibri"/>
              </a:rPr>
              <a:t> </a:t>
            </a:r>
            <a:r>
              <a:rPr spc="114" dirty="0">
                <a:latin typeface="Calibri"/>
                <a:cs typeface="Calibri"/>
              </a:rPr>
              <a:t>a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Fire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75" dirty="0">
                <a:latin typeface="Calibri"/>
                <a:cs typeface="Calibri"/>
              </a:rPr>
              <a:t>and</a:t>
            </a:r>
            <a:r>
              <a:rPr spc="40" dirty="0">
                <a:latin typeface="Calibri"/>
                <a:cs typeface="Calibri"/>
              </a:rPr>
              <a:t> </a:t>
            </a:r>
            <a:r>
              <a:rPr spc="85" dirty="0">
                <a:latin typeface="Calibri"/>
                <a:cs typeface="Calibri"/>
              </a:rPr>
              <a:t>Smoke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Alarm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65" dirty="0">
                <a:latin typeface="Calibri"/>
                <a:cs typeface="Calibri"/>
              </a:rPr>
              <a:t>Using</a:t>
            </a:r>
            <a:r>
              <a:rPr spc="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Arduino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with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110" dirty="0">
                <a:latin typeface="Calibri"/>
                <a:cs typeface="Calibri"/>
              </a:rPr>
              <a:t>SMS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40" dirty="0">
                <a:latin typeface="Calibri"/>
                <a:cs typeface="Calibri"/>
              </a:rPr>
              <a:t>Notifications.</a:t>
            </a:r>
            <a:endParaRPr dirty="0">
              <a:latin typeface="Calibri"/>
              <a:cs typeface="Calibri"/>
            </a:endParaRPr>
          </a:p>
          <a:p>
            <a:pPr marL="240665" indent="-227965">
              <a:lnSpc>
                <a:spcPts val="2290"/>
              </a:lnSpc>
              <a:spcBef>
                <a:spcPts val="755"/>
              </a:spcBef>
              <a:buFont typeface="Arial"/>
              <a:buChar char="•"/>
              <a:tabLst>
                <a:tab pos="240665" algn="l"/>
              </a:tabLst>
            </a:pPr>
            <a:r>
              <a:rPr dirty="0">
                <a:latin typeface="Calibri"/>
                <a:cs typeface="Calibri"/>
              </a:rPr>
              <a:t>[3] </a:t>
            </a:r>
            <a:r>
              <a:rPr spc="75" dirty="0">
                <a:latin typeface="Calibri"/>
                <a:cs typeface="Calibri"/>
              </a:rPr>
              <a:t>Circuit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Designer,</a:t>
            </a:r>
            <a:r>
              <a:rPr spc="1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Arduino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80" dirty="0">
                <a:latin typeface="Calibri"/>
                <a:cs typeface="Calibri"/>
              </a:rPr>
              <a:t>code</a:t>
            </a:r>
            <a:r>
              <a:rPr spc="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spc="8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fire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80" dirty="0">
                <a:latin typeface="Calibri"/>
                <a:cs typeface="Calibri"/>
              </a:rPr>
              <a:t>suppression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75" dirty="0">
                <a:latin typeface="Calibri"/>
                <a:cs typeface="Calibri"/>
              </a:rPr>
              <a:t>system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with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timed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85" dirty="0">
                <a:latin typeface="Calibri"/>
                <a:cs typeface="Calibri"/>
              </a:rPr>
              <a:t>pump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operation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50" dirty="0">
                <a:latin typeface="Calibri"/>
                <a:cs typeface="Calibri"/>
              </a:rPr>
              <a:t>and</a:t>
            </a:r>
            <a:endParaRPr dirty="0">
              <a:latin typeface="Calibri"/>
              <a:cs typeface="Calibri"/>
            </a:endParaRPr>
          </a:p>
          <a:p>
            <a:pPr marL="241300">
              <a:lnSpc>
                <a:spcPts val="2290"/>
              </a:lnSpc>
            </a:pPr>
            <a:r>
              <a:rPr dirty="0">
                <a:latin typeface="Calibri"/>
                <a:cs typeface="Calibri"/>
              </a:rPr>
              <a:t>threshold</a:t>
            </a:r>
            <a:r>
              <a:rPr spc="38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setting.</a:t>
            </a:r>
            <a:endParaRPr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240665" algn="l"/>
              </a:tabLst>
            </a:pPr>
            <a:r>
              <a:rPr dirty="0">
                <a:latin typeface="Calibri"/>
                <a:cs typeface="Calibri"/>
              </a:rPr>
              <a:t>[4]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Arduino</a:t>
            </a:r>
            <a:r>
              <a:rPr spc="1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Forum,</a:t>
            </a:r>
            <a:r>
              <a:rPr spc="1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Controlling</a:t>
            </a:r>
            <a:r>
              <a:rPr spc="10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12V</a:t>
            </a:r>
            <a:r>
              <a:rPr spc="40" dirty="0">
                <a:latin typeface="Calibri"/>
                <a:cs typeface="Calibri"/>
              </a:rPr>
              <a:t> </a:t>
            </a:r>
            <a:r>
              <a:rPr spc="60" dirty="0">
                <a:latin typeface="Calibri"/>
                <a:cs typeface="Calibri"/>
              </a:rPr>
              <a:t>2A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Max</a:t>
            </a:r>
            <a:r>
              <a:rPr spc="25" dirty="0">
                <a:latin typeface="Calibri"/>
                <a:cs typeface="Calibri"/>
              </a:rPr>
              <a:t> </a:t>
            </a:r>
            <a:r>
              <a:rPr spc="260" dirty="0">
                <a:latin typeface="Calibri"/>
                <a:cs typeface="Calibri"/>
              </a:rPr>
              <a:t>DC</a:t>
            </a:r>
            <a:r>
              <a:rPr spc="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Water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spc="70" dirty="0">
                <a:latin typeface="Calibri"/>
                <a:cs typeface="Calibri"/>
              </a:rPr>
              <a:t>Pump</a:t>
            </a:r>
            <a:r>
              <a:rPr spc="1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With</a:t>
            </a:r>
            <a:r>
              <a:rPr spc="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Arduino</a:t>
            </a:r>
            <a:r>
              <a:rPr spc="2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Uno.</a:t>
            </a:r>
            <a:endParaRPr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240665" algn="l"/>
              </a:tabLst>
            </a:pPr>
            <a:r>
              <a:rPr dirty="0">
                <a:latin typeface="Calibri"/>
                <a:cs typeface="Calibri"/>
              </a:rPr>
              <a:t>[5]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45" dirty="0">
                <a:latin typeface="Calibri"/>
                <a:cs typeface="Calibri"/>
              </a:rPr>
              <a:t>IJARIIE,</a:t>
            </a:r>
            <a:r>
              <a:rPr spc="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Fire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45" dirty="0">
                <a:latin typeface="Calibri"/>
                <a:cs typeface="Calibri"/>
              </a:rPr>
              <a:t>Detection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75" dirty="0">
                <a:latin typeface="Calibri"/>
                <a:cs typeface="Calibri"/>
              </a:rPr>
              <a:t>system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spc="65" dirty="0">
                <a:latin typeface="Calibri"/>
                <a:cs typeface="Calibri"/>
              </a:rPr>
              <a:t>using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Arduino.</a:t>
            </a:r>
            <a:endParaRPr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240665" algn="l"/>
              </a:tabLst>
            </a:pPr>
            <a:r>
              <a:rPr dirty="0">
                <a:latin typeface="Calibri"/>
                <a:cs typeface="Calibri"/>
              </a:rPr>
              <a:t>[6]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Arduino</a:t>
            </a:r>
            <a:r>
              <a:rPr spc="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Forum,</a:t>
            </a:r>
            <a:r>
              <a:rPr spc="10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Fire</a:t>
            </a:r>
            <a:r>
              <a:rPr spc="60" dirty="0">
                <a:latin typeface="Calibri"/>
                <a:cs typeface="Calibri"/>
              </a:rPr>
              <a:t> </a:t>
            </a:r>
            <a:r>
              <a:rPr spc="45" dirty="0">
                <a:latin typeface="Calibri"/>
                <a:cs typeface="Calibri"/>
              </a:rPr>
              <a:t>Detection</a:t>
            </a:r>
            <a:r>
              <a:rPr dirty="0">
                <a:latin typeface="Calibri"/>
                <a:cs typeface="Calibri"/>
              </a:rPr>
              <a:t> </a:t>
            </a:r>
            <a:r>
              <a:rPr spc="80" dirty="0">
                <a:latin typeface="Calibri"/>
                <a:cs typeface="Calibri"/>
              </a:rPr>
              <a:t>Using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Arduino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75" dirty="0">
                <a:latin typeface="Calibri"/>
                <a:cs typeface="Calibri"/>
              </a:rPr>
              <a:t>and</a:t>
            </a:r>
            <a:r>
              <a:rPr spc="65" dirty="0">
                <a:latin typeface="Calibri"/>
                <a:cs typeface="Calibri"/>
              </a:rPr>
              <a:t> </a:t>
            </a:r>
            <a:r>
              <a:rPr spc="70" dirty="0">
                <a:latin typeface="Calibri"/>
                <a:cs typeface="Calibri"/>
              </a:rPr>
              <a:t>Flame</a:t>
            </a:r>
            <a:r>
              <a:rPr spc="60" dirty="0">
                <a:latin typeface="Calibri"/>
                <a:cs typeface="Calibri"/>
              </a:rPr>
              <a:t> </a:t>
            </a:r>
            <a:r>
              <a:rPr spc="40" dirty="0">
                <a:latin typeface="Calibri"/>
                <a:cs typeface="Calibri"/>
              </a:rPr>
              <a:t>Sensor.</a:t>
            </a:r>
            <a:endParaRPr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240665" algn="l"/>
              </a:tabLst>
            </a:pPr>
            <a:r>
              <a:rPr spc="10" dirty="0">
                <a:latin typeface="Calibri"/>
                <a:cs typeface="Calibri"/>
              </a:rPr>
              <a:t>[7]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spc="10" dirty="0">
                <a:latin typeface="Calibri"/>
                <a:cs typeface="Calibri"/>
              </a:rPr>
              <a:t>TechPonder,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spc="85" dirty="0">
                <a:latin typeface="Calibri"/>
                <a:cs typeface="Calibri"/>
              </a:rPr>
              <a:t>Flame</a:t>
            </a:r>
            <a:r>
              <a:rPr spc="45" dirty="0">
                <a:latin typeface="Calibri"/>
                <a:cs typeface="Calibri"/>
              </a:rPr>
              <a:t> </a:t>
            </a:r>
            <a:r>
              <a:rPr spc="70" dirty="0">
                <a:latin typeface="Calibri"/>
                <a:cs typeface="Calibri"/>
              </a:rPr>
              <a:t>sensor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10" dirty="0">
                <a:latin typeface="Calibri"/>
                <a:cs typeface="Calibri"/>
              </a:rPr>
              <a:t>interfacing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10" dirty="0">
                <a:latin typeface="Calibri"/>
                <a:cs typeface="Calibri"/>
              </a:rPr>
              <a:t>to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Arduino.</a:t>
            </a:r>
            <a:endParaRPr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240665" algn="l"/>
              </a:tabLst>
            </a:pPr>
            <a:r>
              <a:rPr dirty="0">
                <a:latin typeface="Calibri"/>
                <a:cs typeface="Calibri"/>
              </a:rPr>
              <a:t>[8]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75" dirty="0">
                <a:latin typeface="Calibri"/>
                <a:cs typeface="Calibri"/>
              </a:rPr>
              <a:t>Geek</a:t>
            </a:r>
            <a:r>
              <a:rPr spc="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Pub,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KY-026</a:t>
            </a:r>
            <a:r>
              <a:rPr spc="45" dirty="0">
                <a:latin typeface="Calibri"/>
                <a:cs typeface="Calibri"/>
              </a:rPr>
              <a:t> </a:t>
            </a:r>
            <a:r>
              <a:rPr spc="60" dirty="0">
                <a:latin typeface="Calibri"/>
                <a:cs typeface="Calibri"/>
              </a:rPr>
              <a:t>flame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75" dirty="0">
                <a:latin typeface="Calibri"/>
                <a:cs typeface="Calibri"/>
              </a:rPr>
              <a:t>IR</a:t>
            </a:r>
            <a:r>
              <a:rPr spc="50" dirty="0">
                <a:latin typeface="Calibri"/>
                <a:cs typeface="Calibri"/>
              </a:rPr>
              <a:t> </a:t>
            </a:r>
            <a:r>
              <a:rPr spc="40" dirty="0">
                <a:latin typeface="Calibri"/>
                <a:cs typeface="Calibri"/>
              </a:rPr>
              <a:t>sensor.</a:t>
            </a:r>
            <a:endParaRPr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30"/>
              </a:spcBef>
              <a:buFont typeface="Arial"/>
              <a:buChar char="•"/>
              <a:tabLst>
                <a:tab pos="240665" algn="l"/>
              </a:tabLst>
            </a:pPr>
            <a:r>
              <a:rPr dirty="0">
                <a:latin typeface="Calibri"/>
                <a:cs typeface="Calibri"/>
              </a:rPr>
              <a:t>[9]</a:t>
            </a:r>
            <a:r>
              <a:rPr spc="30" dirty="0">
                <a:latin typeface="Calibri"/>
                <a:cs typeface="Calibri"/>
              </a:rPr>
              <a:t> </a:t>
            </a:r>
            <a:r>
              <a:rPr spc="60" dirty="0">
                <a:latin typeface="Calibri"/>
                <a:cs typeface="Calibri"/>
              </a:rPr>
              <a:t>Instructables,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spc="85" dirty="0">
                <a:latin typeface="Calibri"/>
                <a:cs typeface="Calibri"/>
              </a:rPr>
              <a:t>Flame</a:t>
            </a:r>
            <a:r>
              <a:rPr spc="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detection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65" dirty="0">
                <a:latin typeface="Calibri"/>
                <a:cs typeface="Calibri"/>
              </a:rPr>
              <a:t>using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Arduino</a:t>
            </a:r>
            <a:r>
              <a:rPr spc="90" dirty="0">
                <a:latin typeface="Calibri"/>
                <a:cs typeface="Calibri"/>
              </a:rPr>
              <a:t> </a:t>
            </a:r>
            <a:r>
              <a:rPr spc="50" dirty="0">
                <a:latin typeface="Calibri"/>
                <a:cs typeface="Calibri"/>
              </a:rPr>
              <a:t>and</a:t>
            </a:r>
            <a:r>
              <a:rPr spc="65" dirty="0">
                <a:latin typeface="Calibri"/>
                <a:cs typeface="Calibri"/>
              </a:rPr>
              <a:t> </a:t>
            </a:r>
            <a:r>
              <a:rPr spc="55" dirty="0">
                <a:latin typeface="Calibri"/>
                <a:cs typeface="Calibri"/>
              </a:rPr>
              <a:t>flame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40" dirty="0">
                <a:latin typeface="Calibri"/>
                <a:cs typeface="Calibri"/>
              </a:rPr>
              <a:t>sensor.</a:t>
            </a:r>
            <a:endParaRPr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240665" algn="l"/>
              </a:tabLst>
            </a:pPr>
            <a:r>
              <a:rPr dirty="0">
                <a:latin typeface="Calibri"/>
                <a:cs typeface="Calibri"/>
              </a:rPr>
              <a:t>[10]</a:t>
            </a:r>
            <a:r>
              <a:rPr spc="45" dirty="0">
                <a:latin typeface="Calibri"/>
                <a:cs typeface="Calibri"/>
              </a:rPr>
              <a:t> </a:t>
            </a:r>
            <a:r>
              <a:rPr spc="50" dirty="0">
                <a:latin typeface="Calibri"/>
                <a:cs typeface="Calibri"/>
              </a:rPr>
              <a:t>Forum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All</a:t>
            </a:r>
            <a:r>
              <a:rPr spc="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About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80" dirty="0">
                <a:latin typeface="Calibri"/>
                <a:cs typeface="Calibri"/>
              </a:rPr>
              <a:t>Circuits,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85" dirty="0">
                <a:latin typeface="Calibri"/>
                <a:cs typeface="Calibri"/>
              </a:rPr>
              <a:t>Flyback</a:t>
            </a:r>
            <a:r>
              <a:rPr spc="35" dirty="0">
                <a:latin typeface="Calibri"/>
                <a:cs typeface="Calibri"/>
              </a:rPr>
              <a:t> </a:t>
            </a:r>
            <a:r>
              <a:rPr spc="70" dirty="0">
                <a:latin typeface="Calibri"/>
                <a:cs typeface="Calibri"/>
              </a:rPr>
              <a:t>diodes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75" dirty="0">
                <a:latin typeface="Calibri"/>
                <a:cs typeface="Calibri"/>
              </a:rPr>
              <a:t>and</a:t>
            </a:r>
            <a:r>
              <a:rPr spc="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why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you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55" dirty="0">
                <a:latin typeface="Calibri"/>
                <a:cs typeface="Calibri"/>
              </a:rPr>
              <a:t>need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them.</a:t>
            </a:r>
            <a:endParaRPr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240665" algn="l"/>
              </a:tabLst>
            </a:pPr>
            <a:r>
              <a:rPr dirty="0">
                <a:latin typeface="Calibri"/>
                <a:cs typeface="Calibri"/>
              </a:rPr>
              <a:t>[11]</a:t>
            </a:r>
            <a:r>
              <a:rPr spc="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Sunfounder,</a:t>
            </a:r>
            <a:r>
              <a:rPr spc="45" dirty="0">
                <a:latin typeface="Calibri"/>
                <a:cs typeface="Calibri"/>
              </a:rPr>
              <a:t> </a:t>
            </a:r>
            <a:r>
              <a:rPr spc="55" dirty="0">
                <a:latin typeface="Calibri"/>
                <a:cs typeface="Calibri"/>
              </a:rPr>
              <a:t>Calibrating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 MQ2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140" dirty="0">
                <a:latin typeface="Calibri"/>
                <a:cs typeface="Calibri"/>
              </a:rPr>
              <a:t>Gas</a:t>
            </a:r>
            <a:r>
              <a:rPr spc="100" dirty="0">
                <a:latin typeface="Calibri"/>
                <a:cs typeface="Calibri"/>
              </a:rPr>
              <a:t> </a:t>
            </a:r>
            <a:r>
              <a:rPr spc="40" dirty="0">
                <a:latin typeface="Calibri"/>
                <a:cs typeface="Calibri"/>
              </a:rPr>
              <a:t>Sensor.</a:t>
            </a:r>
            <a:endParaRPr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240665" algn="l"/>
              </a:tabLst>
            </a:pPr>
            <a:r>
              <a:rPr dirty="0">
                <a:latin typeface="Calibri"/>
                <a:cs typeface="Calibri"/>
              </a:rPr>
              <a:t>[12]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IEM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spc="70" dirty="0">
                <a:latin typeface="Calibri"/>
                <a:cs typeface="Calibri"/>
              </a:rPr>
              <a:t>Robotics,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45" dirty="0">
                <a:latin typeface="Calibri"/>
                <a:cs typeface="Calibri"/>
              </a:rPr>
              <a:t>Understanding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MQ2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140" dirty="0">
                <a:latin typeface="Calibri"/>
                <a:cs typeface="Calibri"/>
              </a:rPr>
              <a:t>Gas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spc="80" dirty="0">
                <a:latin typeface="Calibri"/>
                <a:cs typeface="Calibri"/>
              </a:rPr>
              <a:t>Sensor: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65" dirty="0">
                <a:latin typeface="Calibri"/>
                <a:cs typeface="Calibri"/>
              </a:rPr>
              <a:t>Guide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spc="35" dirty="0">
                <a:latin typeface="Calibri"/>
                <a:cs typeface="Calibri"/>
              </a:rPr>
              <a:t>Beginners.</a:t>
            </a:r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31</TotalTime>
  <Words>1709</Words>
  <Application>Microsoft Office PowerPoint</Application>
  <PresentationFormat>Widescreen</PresentationFormat>
  <Paragraphs>168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Calisto MT</vt:lpstr>
      <vt:lpstr>Times New Roman</vt:lpstr>
      <vt:lpstr>Wingdings</vt:lpstr>
      <vt:lpstr>Wingdings 2</vt:lpstr>
      <vt:lpstr>Slate</vt:lpstr>
      <vt:lpstr>DEPARTMENT OF ELECTONICS AND COMMUNICATION ENGINEERING Galgotias College of Engineering s Technology</vt:lpstr>
      <vt:lpstr>Table of Content</vt:lpstr>
      <vt:lpstr>Introduction</vt:lpstr>
      <vt:lpstr>Problem Identification</vt:lpstr>
      <vt:lpstr>Objectives</vt:lpstr>
      <vt:lpstr>Literature Review</vt:lpstr>
      <vt:lpstr>Proposed Model</vt:lpstr>
      <vt:lpstr>Tool Used</vt:lpstr>
      <vt:lpstr>Implementation</vt:lpstr>
      <vt:lpstr>Result and Discussion</vt:lpstr>
      <vt:lpstr>Application ,Limitation and Future Scope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Mohd Akram</dc:creator>
  <cp:lastModifiedBy>Mohd Akram</cp:lastModifiedBy>
  <cp:revision>1</cp:revision>
  <dcterms:created xsi:type="dcterms:W3CDTF">2025-11-19T21:07:10Z</dcterms:created>
  <dcterms:modified xsi:type="dcterms:W3CDTF">2025-11-20T22:13:59Z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2025-11-19T00:00:00Z</vt:filetime>
  </property>
  <property fmtid="{D5CDD505-2E9C-101B-9397-08002B2CF9AE}" pid="3" name="LastSaved">
    <vt:filetime>2025-11-19T00:00:00Z</vt:filetime>
  </property>
</Properties>
</file>